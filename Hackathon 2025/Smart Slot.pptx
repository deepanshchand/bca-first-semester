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7" r:id="rId3"/>
    <p:sldId id="268" r:id="rId4"/>
    <p:sldId id="269" r:id="rId5"/>
    <p:sldId id="265" r:id="rId6"/>
    <p:sldId id="266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CC"/>
    <a:srgbClr val="000099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>
      <p:cViewPr varScale="1">
        <p:scale>
          <a:sx n="71" d="100"/>
          <a:sy n="71" d="100"/>
        </p:scale>
        <p:origin x="898" y="43"/>
      </p:cViewPr>
      <p:guideLst/>
    </p:cSldViewPr>
  </p:slideViewPr>
  <p:notesTextViewPr>
    <p:cViewPr>
      <p:scale>
        <a:sx n="33" d="100"/>
        <a:sy n="33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66308C-9FF0-44D2-8CA8-1DD6B5227199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8044D9-B151-4257-B182-7F05A23B9B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9320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8B4F4-9FAB-1049-080A-4E82A9353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5E1CE-972F-9E5F-E432-71D9ECE3A2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0392A5-49AE-7113-1CFA-90ED9D9F85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FCC35E-AB0E-0823-6CC9-06FA63FEAA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044D9-B151-4257-B182-7F05A23B9B26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81404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42393-277F-B5A7-51CA-64165C2EB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C80567-2082-7537-ACDD-90E40436D2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48B05D-06FE-9B8F-EC77-A16605D964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1AEC9-C5D5-6684-07D6-ACCE166EC1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044D9-B151-4257-B182-7F05A23B9B26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52052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044D9-B151-4257-B182-7F05A23B9B26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3418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4834A-07DF-074F-7AE8-43D0BF91B4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A6C132-C1EC-64A1-0E0F-CCBB82B667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BB8732-543E-965B-9241-44DAA058F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19B82-7433-4210-93AC-16813C7C05AF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28DB0A-F792-E138-0985-93D209EE0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73FFC-142A-4117-792F-0E526A9F7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003B5-BA98-4A71-9517-3484EB653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77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8F722-107A-A106-3BB8-D91E6CF4A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6F517-3A8E-E310-45DF-EF28E4798D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5D343-B34A-6CE8-022E-BA0EB89AE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19B82-7433-4210-93AC-16813C7C05AF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D80AA3-4057-BE78-CF35-33FE131BF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066A31-6FB7-49DC-9C3C-FDE74E1A3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003B5-BA98-4A71-9517-3484EB653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8756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F0C0F-B45C-1EE0-BFB4-335970B10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FDA89A-F8F1-3558-F59C-DF173E1997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9537EF-E0BB-6773-BCFE-35F1D5A26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19B82-7433-4210-93AC-16813C7C05AF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5E0B5-2E7A-2A58-A928-43F294F8E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F06EB-E9A9-3BBC-B527-7A4E6CE13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003B5-BA98-4A71-9517-3484EB653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9616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55F71-82C2-C641-261C-61ED8A964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CAA9A-2D33-D0F3-1C6B-AA9F48CF99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00406E-891D-B4F3-EA05-9A7A9AB3DE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34A271-80D8-E5F4-F3DF-34E0BFB6F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19B82-7433-4210-93AC-16813C7C05AF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56735C-21F2-7F7E-1635-D55430A71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559B27-A7BB-6B39-C212-C27F86982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003B5-BA98-4A71-9517-3484EB653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2877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23986-F445-28AB-0F8E-28C997416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D5898E-654E-C851-55B2-BD7EA9635E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C3CEB1-5EF3-6095-3CCA-C269DEF7E4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82FB78-69D4-EEB9-857D-02289FFE3D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1EBA6F-8E3C-42B1-FC39-26120C7068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1544E7-5DF7-21E3-CEEF-9960FFAD4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19B82-7433-4210-93AC-16813C7C05AF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6DAC42-27B0-01B2-4CD7-B1C196D19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BA525E-6FA4-11D0-2B9B-68F9F1B0A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003B5-BA98-4A71-9517-3484EB653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4718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C7D4C-B39A-338F-29F6-918764A0D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E01A79-DA03-E7EB-CA37-2518BC07E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19B82-7433-4210-93AC-16813C7C05AF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757772-3015-5F63-8073-73E76A209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3B467C-3938-49FF-829B-5ABA77457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003B5-BA98-4A71-9517-3484EB653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1340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B1B64B-AD18-53C1-7F13-1784DF562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19B82-7433-4210-93AC-16813C7C05AF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44E2B4-FF17-90CE-ECF6-F939793DF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9F332E-2F15-1897-8598-33034554D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003B5-BA98-4A71-9517-3484EB653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8620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703ED-5B0B-CDFB-E9D2-635444F4F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75F15-1660-E9AC-5A1F-FA6CEA8D77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85FBFF-8B7F-C17A-1D5C-ADA97D5D05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8027BA-70A4-8C41-32C6-C1A31F6C4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19B82-7433-4210-93AC-16813C7C05AF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87B223-3D94-B61E-48BF-D753B50D6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5A30B3-B540-58A8-865F-E5D97E661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003B5-BA98-4A71-9517-3484EB653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0109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AEB1D-8EEF-DB96-77C5-6E80C3EC3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F0B8F3-9703-E0DF-DF33-19F02BBCFD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BFBD4E-648B-3857-E5AD-7F25944BF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2B8A24-C526-F9C6-1396-4489D6B8F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19B82-7433-4210-93AC-16813C7C05AF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512393-9DC0-9653-8BAB-124C2D735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4FCC49-A8F1-4F20-964A-1512D53F5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003B5-BA98-4A71-9517-3484EB653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9509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03CDF-4F05-15B4-095B-C955346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FBD48F-607B-C7C6-41F7-1AD90B898C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F1FC87-3971-1728-EB03-92E582324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19B82-7433-4210-93AC-16813C7C05AF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C7747-1A19-5CB3-D299-F8020A6FC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A28F9-0550-B0BE-3400-BB42EF985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003B5-BA98-4A71-9517-3484EB653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44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97D9F9-6AAC-BC14-F625-E9A9760AF3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AA9D20-4AF2-E87C-27BE-E77925A31B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DDE48A-745D-9205-52A4-1BE21A767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19B82-7433-4210-93AC-16813C7C05AF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29AD0-9DCE-CAB4-00B1-669FDB231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E96AC4-ABB9-0479-4CCB-DA8A66D55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003B5-BA98-4A71-9517-3484EB653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1773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FDFD06-3AAB-0269-CAAA-B7FD6463F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DE8065-1BB4-AA6C-DFF9-5AE7A9CCB5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297FC-4F31-A6D1-4CF2-BDDCA40B59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A19B82-7433-4210-93AC-16813C7C05AF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E7C8E-4BB5-D904-1F8E-8BA22B55EF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E0A7A-7C69-D004-ADBB-AA1A7D3CF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4003B5-BA98-4A71-9517-3484EB653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1065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81E3D6EE-8F3F-2FB4-ACF3-F4FDE32793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357E15E-3778-F7B1-733E-BE1186B5B94A}"/>
              </a:ext>
            </a:extLst>
          </p:cNvPr>
          <p:cNvSpPr txBox="1"/>
          <p:nvPr/>
        </p:nvSpPr>
        <p:spPr>
          <a:xfrm>
            <a:off x="2298097" y="0"/>
            <a:ext cx="9893903" cy="6858000"/>
          </a:xfrm>
          <a:custGeom>
            <a:avLst/>
            <a:gdLst/>
            <a:ahLst/>
            <a:cxnLst/>
            <a:rect l="l" t="t" r="r" b="b"/>
            <a:pathLst>
              <a:path w="9893903" h="6858000">
                <a:moveTo>
                  <a:pt x="2242089" y="3035319"/>
                </a:moveTo>
                <a:lnTo>
                  <a:pt x="2154965" y="3322088"/>
                </a:lnTo>
                <a:lnTo>
                  <a:pt x="2330157" y="3322088"/>
                </a:lnTo>
                <a:close/>
                <a:moveTo>
                  <a:pt x="7090851" y="3001582"/>
                </a:moveTo>
                <a:cubicBezTo>
                  <a:pt x="7142727" y="3001582"/>
                  <a:pt x="7183809" y="3018904"/>
                  <a:pt x="7214101" y="3053548"/>
                </a:cubicBezTo>
                <a:cubicBezTo>
                  <a:pt x="7244393" y="3088193"/>
                  <a:pt x="7259538" y="3143061"/>
                  <a:pt x="7259538" y="3218155"/>
                </a:cubicBezTo>
                <a:cubicBezTo>
                  <a:pt x="7259538" y="3307396"/>
                  <a:pt x="7245027" y="3369248"/>
                  <a:pt x="7216005" y="3403711"/>
                </a:cubicBezTo>
                <a:cubicBezTo>
                  <a:pt x="7186984" y="3438174"/>
                  <a:pt x="7145991" y="3455405"/>
                  <a:pt x="7093027" y="3455405"/>
                </a:cubicBezTo>
                <a:cubicBezTo>
                  <a:pt x="7041514" y="3455405"/>
                  <a:pt x="7000793" y="3437811"/>
                  <a:pt x="6970865" y="3402622"/>
                </a:cubicBezTo>
                <a:cubicBezTo>
                  <a:pt x="6940937" y="3367434"/>
                  <a:pt x="6925972" y="3309572"/>
                  <a:pt x="6925972" y="3229038"/>
                </a:cubicBezTo>
                <a:cubicBezTo>
                  <a:pt x="6925972" y="3147778"/>
                  <a:pt x="6941027" y="3089553"/>
                  <a:pt x="6971137" y="3054365"/>
                </a:cubicBezTo>
                <a:cubicBezTo>
                  <a:pt x="7001247" y="3019176"/>
                  <a:pt x="7041151" y="3001582"/>
                  <a:pt x="7090851" y="3001582"/>
                </a:cubicBezTo>
                <a:close/>
                <a:moveTo>
                  <a:pt x="3008468" y="2989611"/>
                </a:moveTo>
                <a:lnTo>
                  <a:pt x="3008468" y="3151768"/>
                </a:lnTo>
                <a:lnTo>
                  <a:pt x="3112401" y="3151768"/>
                </a:lnTo>
                <a:cubicBezTo>
                  <a:pt x="3123647" y="3151768"/>
                  <a:pt x="3145413" y="3148140"/>
                  <a:pt x="3177699" y="3140885"/>
                </a:cubicBezTo>
                <a:cubicBezTo>
                  <a:pt x="3194024" y="3137620"/>
                  <a:pt x="3207355" y="3129276"/>
                  <a:pt x="3217695" y="3115854"/>
                </a:cubicBezTo>
                <a:cubicBezTo>
                  <a:pt x="3228033" y="3102431"/>
                  <a:pt x="3233203" y="3087014"/>
                  <a:pt x="3233203" y="3069601"/>
                </a:cubicBezTo>
                <a:cubicBezTo>
                  <a:pt x="3233203" y="3043844"/>
                  <a:pt x="3225040" y="3024073"/>
                  <a:pt x="3208716" y="3010288"/>
                </a:cubicBezTo>
                <a:cubicBezTo>
                  <a:pt x="3192391" y="2996503"/>
                  <a:pt x="3161738" y="2989611"/>
                  <a:pt x="3116754" y="2989611"/>
                </a:cubicBezTo>
                <a:close/>
                <a:moveTo>
                  <a:pt x="7549790" y="2828541"/>
                </a:moveTo>
                <a:lnTo>
                  <a:pt x="7549790" y="3025525"/>
                </a:lnTo>
                <a:lnTo>
                  <a:pt x="7801189" y="3025525"/>
                </a:lnTo>
                <a:lnTo>
                  <a:pt x="7801189" y="3626269"/>
                </a:lnTo>
                <a:lnTo>
                  <a:pt x="8047690" y="3626269"/>
                </a:lnTo>
                <a:lnTo>
                  <a:pt x="8047690" y="3025525"/>
                </a:lnTo>
                <a:lnTo>
                  <a:pt x="8299088" y="3025525"/>
                </a:lnTo>
                <a:lnTo>
                  <a:pt x="8299088" y="2828541"/>
                </a:lnTo>
                <a:close/>
                <a:moveTo>
                  <a:pt x="5986588" y="2828541"/>
                </a:moveTo>
                <a:lnTo>
                  <a:pt x="5986588" y="3626269"/>
                </a:lnTo>
                <a:lnTo>
                  <a:pt x="6617805" y="3626269"/>
                </a:lnTo>
                <a:lnTo>
                  <a:pt x="6617805" y="3429830"/>
                </a:lnTo>
                <a:lnTo>
                  <a:pt x="6233089" y="3429830"/>
                </a:lnTo>
                <a:lnTo>
                  <a:pt x="6233089" y="2828541"/>
                </a:lnTo>
                <a:close/>
                <a:moveTo>
                  <a:pt x="3558815" y="2828541"/>
                </a:moveTo>
                <a:lnTo>
                  <a:pt x="4308114" y="2828541"/>
                </a:lnTo>
                <a:lnTo>
                  <a:pt x="4308114" y="3025525"/>
                </a:lnTo>
                <a:lnTo>
                  <a:pt x="4056715" y="3025525"/>
                </a:lnTo>
                <a:lnTo>
                  <a:pt x="4056715" y="3626269"/>
                </a:lnTo>
                <a:lnTo>
                  <a:pt x="3810214" y="3626269"/>
                </a:lnTo>
                <a:lnTo>
                  <a:pt x="3810214" y="3025525"/>
                </a:lnTo>
                <a:lnTo>
                  <a:pt x="3558815" y="3025525"/>
                </a:lnTo>
                <a:close/>
                <a:moveTo>
                  <a:pt x="2760878" y="2828541"/>
                </a:moveTo>
                <a:lnTo>
                  <a:pt x="3171714" y="2828541"/>
                </a:lnTo>
                <a:cubicBezTo>
                  <a:pt x="3247895" y="2828541"/>
                  <a:pt x="3306119" y="2835071"/>
                  <a:pt x="3346386" y="2848131"/>
                </a:cubicBezTo>
                <a:cubicBezTo>
                  <a:pt x="3386654" y="2861190"/>
                  <a:pt x="3419122" y="2885405"/>
                  <a:pt x="3443790" y="2920775"/>
                </a:cubicBezTo>
                <a:cubicBezTo>
                  <a:pt x="3468458" y="2956145"/>
                  <a:pt x="3480792" y="2999224"/>
                  <a:pt x="3480792" y="3050011"/>
                </a:cubicBezTo>
                <a:cubicBezTo>
                  <a:pt x="3480792" y="3094269"/>
                  <a:pt x="3471355" y="3132451"/>
                  <a:pt x="3452479" y="3164556"/>
                </a:cubicBezTo>
                <a:cubicBezTo>
                  <a:pt x="3433604" y="3196661"/>
                  <a:pt x="3407652" y="3222689"/>
                  <a:pt x="3374623" y="3242641"/>
                </a:cubicBezTo>
                <a:cubicBezTo>
                  <a:pt x="3353571" y="3255338"/>
                  <a:pt x="3324714" y="3265859"/>
                  <a:pt x="3288051" y="3274202"/>
                </a:cubicBezTo>
                <a:cubicBezTo>
                  <a:pt x="3317413" y="3284008"/>
                  <a:pt x="3338803" y="3293812"/>
                  <a:pt x="3352219" y="3303612"/>
                </a:cubicBezTo>
                <a:cubicBezTo>
                  <a:pt x="3361283" y="3310148"/>
                  <a:pt x="3374425" y="3324127"/>
                  <a:pt x="3391645" y="3345550"/>
                </a:cubicBezTo>
                <a:cubicBezTo>
                  <a:pt x="3408865" y="3366973"/>
                  <a:pt x="3420374" y="3383495"/>
                  <a:pt x="3426173" y="3395115"/>
                </a:cubicBezTo>
                <a:lnTo>
                  <a:pt x="3545547" y="3626269"/>
                </a:lnTo>
                <a:lnTo>
                  <a:pt x="3267017" y="3626269"/>
                </a:lnTo>
                <a:lnTo>
                  <a:pt x="3135255" y="3382489"/>
                </a:lnTo>
                <a:cubicBezTo>
                  <a:pt x="3118568" y="3350928"/>
                  <a:pt x="3103694" y="3330431"/>
                  <a:pt x="3090635" y="3320999"/>
                </a:cubicBezTo>
                <a:cubicBezTo>
                  <a:pt x="3072859" y="3308665"/>
                  <a:pt x="3052725" y="3302498"/>
                  <a:pt x="3030234" y="3302498"/>
                </a:cubicBezTo>
                <a:lnTo>
                  <a:pt x="3008468" y="3302498"/>
                </a:lnTo>
                <a:lnTo>
                  <a:pt x="3008468" y="3626269"/>
                </a:lnTo>
                <a:lnTo>
                  <a:pt x="2760878" y="3626269"/>
                </a:lnTo>
                <a:close/>
                <a:moveTo>
                  <a:pt x="2110668" y="2828541"/>
                </a:moveTo>
                <a:lnTo>
                  <a:pt x="2379547" y="2828541"/>
                </a:lnTo>
                <a:lnTo>
                  <a:pt x="2679316" y="3626269"/>
                </a:lnTo>
                <a:lnTo>
                  <a:pt x="2421191" y="3626269"/>
                </a:lnTo>
                <a:lnTo>
                  <a:pt x="2381290" y="3494584"/>
                </a:lnTo>
                <a:lnTo>
                  <a:pt x="2101425" y="3494584"/>
                </a:lnTo>
                <a:lnTo>
                  <a:pt x="2062544" y="3626269"/>
                </a:lnTo>
                <a:lnTo>
                  <a:pt x="1810848" y="3626269"/>
                </a:lnTo>
                <a:close/>
                <a:moveTo>
                  <a:pt x="840368" y="2828541"/>
                </a:moveTo>
                <a:lnTo>
                  <a:pt x="1164546" y="2828541"/>
                </a:lnTo>
                <a:lnTo>
                  <a:pt x="1289566" y="3313926"/>
                </a:lnTo>
                <a:lnTo>
                  <a:pt x="1413692" y="2828541"/>
                </a:lnTo>
                <a:lnTo>
                  <a:pt x="1737676" y="2828541"/>
                </a:lnTo>
                <a:lnTo>
                  <a:pt x="1737676" y="3626269"/>
                </a:lnTo>
                <a:lnTo>
                  <a:pt x="1535795" y="3626269"/>
                </a:lnTo>
                <a:lnTo>
                  <a:pt x="1535795" y="3017906"/>
                </a:lnTo>
                <a:lnTo>
                  <a:pt x="1380244" y="3626269"/>
                </a:lnTo>
                <a:lnTo>
                  <a:pt x="1197519" y="3626269"/>
                </a:lnTo>
                <a:lnTo>
                  <a:pt x="1042248" y="3017906"/>
                </a:lnTo>
                <a:lnTo>
                  <a:pt x="1042248" y="3626269"/>
                </a:lnTo>
                <a:lnTo>
                  <a:pt x="840368" y="3626269"/>
                </a:lnTo>
                <a:close/>
                <a:moveTo>
                  <a:pt x="7091395" y="2814937"/>
                </a:moveTo>
                <a:cubicBezTo>
                  <a:pt x="6961887" y="2814937"/>
                  <a:pt x="6860855" y="2851214"/>
                  <a:pt x="6788301" y="2923768"/>
                </a:cubicBezTo>
                <a:cubicBezTo>
                  <a:pt x="6715748" y="2996322"/>
                  <a:pt x="6679471" y="3097716"/>
                  <a:pt x="6679471" y="3227949"/>
                </a:cubicBezTo>
                <a:cubicBezTo>
                  <a:pt x="6679471" y="3321181"/>
                  <a:pt x="6697791" y="3398813"/>
                  <a:pt x="6734431" y="3460847"/>
                </a:cubicBezTo>
                <a:cubicBezTo>
                  <a:pt x="6771070" y="3522880"/>
                  <a:pt x="6818865" y="3568226"/>
                  <a:pt x="6877815" y="3596885"/>
                </a:cubicBezTo>
                <a:cubicBezTo>
                  <a:pt x="6936765" y="3625544"/>
                  <a:pt x="7011223" y="3639873"/>
                  <a:pt x="7101189" y="3639873"/>
                </a:cubicBezTo>
                <a:cubicBezTo>
                  <a:pt x="7189705" y="3639873"/>
                  <a:pt x="7263619" y="3623276"/>
                  <a:pt x="7322931" y="3590083"/>
                </a:cubicBezTo>
                <a:cubicBezTo>
                  <a:pt x="7382245" y="3556890"/>
                  <a:pt x="7427590" y="3510455"/>
                  <a:pt x="7458970" y="3450780"/>
                </a:cubicBezTo>
                <a:cubicBezTo>
                  <a:pt x="7490349" y="3391105"/>
                  <a:pt x="7506039" y="3314651"/>
                  <a:pt x="7506039" y="3221419"/>
                </a:cubicBezTo>
                <a:cubicBezTo>
                  <a:pt x="7506039" y="3092999"/>
                  <a:pt x="7470125" y="2993147"/>
                  <a:pt x="7398297" y="2921863"/>
                </a:cubicBezTo>
                <a:cubicBezTo>
                  <a:pt x="7326469" y="2850579"/>
                  <a:pt x="7224168" y="2814937"/>
                  <a:pt x="7091395" y="2814937"/>
                </a:cubicBezTo>
                <a:close/>
                <a:moveTo>
                  <a:pt x="5512435" y="2814937"/>
                </a:moveTo>
                <a:cubicBezTo>
                  <a:pt x="5429361" y="2814937"/>
                  <a:pt x="5363972" y="2825367"/>
                  <a:pt x="5316268" y="2846226"/>
                </a:cubicBezTo>
                <a:cubicBezTo>
                  <a:pt x="5268564" y="2867085"/>
                  <a:pt x="5232832" y="2895744"/>
                  <a:pt x="5209070" y="2932202"/>
                </a:cubicBezTo>
                <a:cubicBezTo>
                  <a:pt x="5185309" y="2968661"/>
                  <a:pt x="5173428" y="3007386"/>
                  <a:pt x="5173428" y="3048379"/>
                </a:cubicBezTo>
                <a:cubicBezTo>
                  <a:pt x="5173428" y="3110775"/>
                  <a:pt x="5196645" y="3162107"/>
                  <a:pt x="5243080" y="3202374"/>
                </a:cubicBezTo>
                <a:cubicBezTo>
                  <a:pt x="5289151" y="3242641"/>
                  <a:pt x="5366240" y="3274928"/>
                  <a:pt x="5474345" y="3299233"/>
                </a:cubicBezTo>
                <a:cubicBezTo>
                  <a:pt x="5540369" y="3313744"/>
                  <a:pt x="5582450" y="3329162"/>
                  <a:pt x="5600588" y="3345486"/>
                </a:cubicBezTo>
                <a:cubicBezTo>
                  <a:pt x="5618727" y="3361811"/>
                  <a:pt x="5627796" y="3380312"/>
                  <a:pt x="5627796" y="3400990"/>
                </a:cubicBezTo>
                <a:cubicBezTo>
                  <a:pt x="5627796" y="3422756"/>
                  <a:pt x="5618273" y="3441892"/>
                  <a:pt x="5599228" y="3458398"/>
                </a:cubicBezTo>
                <a:cubicBezTo>
                  <a:pt x="5580183" y="3474904"/>
                  <a:pt x="5553066" y="3483157"/>
                  <a:pt x="5517877" y="3483157"/>
                </a:cubicBezTo>
                <a:cubicBezTo>
                  <a:pt x="5470717" y="3483157"/>
                  <a:pt x="5434440" y="3467014"/>
                  <a:pt x="5409046" y="3434727"/>
                </a:cubicBezTo>
                <a:cubicBezTo>
                  <a:pt x="5393447" y="3414775"/>
                  <a:pt x="5383108" y="3385754"/>
                  <a:pt x="5378030" y="3347663"/>
                </a:cubicBezTo>
                <a:lnTo>
                  <a:pt x="5143500" y="3362355"/>
                </a:lnTo>
                <a:cubicBezTo>
                  <a:pt x="5150392" y="3442890"/>
                  <a:pt x="5179958" y="3509276"/>
                  <a:pt x="5232197" y="3561515"/>
                </a:cubicBezTo>
                <a:cubicBezTo>
                  <a:pt x="5284435" y="3613754"/>
                  <a:pt x="5378393" y="3639873"/>
                  <a:pt x="5514068" y="3639873"/>
                </a:cubicBezTo>
                <a:cubicBezTo>
                  <a:pt x="5591338" y="3639873"/>
                  <a:pt x="5655366" y="3628718"/>
                  <a:pt x="5706154" y="3606408"/>
                </a:cubicBezTo>
                <a:cubicBezTo>
                  <a:pt x="5756941" y="3584097"/>
                  <a:pt x="5796483" y="3551357"/>
                  <a:pt x="5824779" y="3508188"/>
                </a:cubicBezTo>
                <a:cubicBezTo>
                  <a:pt x="5853075" y="3465019"/>
                  <a:pt x="5867223" y="3417859"/>
                  <a:pt x="5867223" y="3366708"/>
                </a:cubicBezTo>
                <a:cubicBezTo>
                  <a:pt x="5867223" y="3323176"/>
                  <a:pt x="5856612" y="3283816"/>
                  <a:pt x="5835390" y="3248627"/>
                </a:cubicBezTo>
                <a:cubicBezTo>
                  <a:pt x="5814168" y="3213439"/>
                  <a:pt x="5780249" y="3183964"/>
                  <a:pt x="5733634" y="3160202"/>
                </a:cubicBezTo>
                <a:cubicBezTo>
                  <a:pt x="5687018" y="3136441"/>
                  <a:pt x="5609839" y="3112952"/>
                  <a:pt x="5502097" y="3089735"/>
                </a:cubicBezTo>
                <a:cubicBezTo>
                  <a:pt x="5458564" y="3080665"/>
                  <a:pt x="5430994" y="3070870"/>
                  <a:pt x="5419385" y="3060350"/>
                </a:cubicBezTo>
                <a:cubicBezTo>
                  <a:pt x="5407414" y="3050193"/>
                  <a:pt x="5401428" y="3038765"/>
                  <a:pt x="5401428" y="3026069"/>
                </a:cubicBezTo>
                <a:cubicBezTo>
                  <a:pt x="5401428" y="3008656"/>
                  <a:pt x="5408684" y="2993873"/>
                  <a:pt x="5423194" y="2981720"/>
                </a:cubicBezTo>
                <a:cubicBezTo>
                  <a:pt x="5437705" y="2969567"/>
                  <a:pt x="5459290" y="2963491"/>
                  <a:pt x="5487949" y="2963491"/>
                </a:cubicBezTo>
                <a:cubicBezTo>
                  <a:pt x="5522774" y="2963491"/>
                  <a:pt x="5550073" y="2971653"/>
                  <a:pt x="5569844" y="2987978"/>
                </a:cubicBezTo>
                <a:cubicBezTo>
                  <a:pt x="5589614" y="3004302"/>
                  <a:pt x="5602583" y="3030422"/>
                  <a:pt x="5608751" y="3066336"/>
                </a:cubicBezTo>
                <a:lnTo>
                  <a:pt x="5841104" y="3052732"/>
                </a:lnTo>
                <a:cubicBezTo>
                  <a:pt x="5830946" y="2970021"/>
                  <a:pt x="5799113" y="2909711"/>
                  <a:pt x="5745605" y="2871801"/>
                </a:cubicBezTo>
                <a:cubicBezTo>
                  <a:pt x="5692097" y="2833892"/>
                  <a:pt x="5614373" y="2814937"/>
                  <a:pt x="5512435" y="2814937"/>
                </a:cubicBezTo>
                <a:close/>
                <a:moveTo>
                  <a:pt x="368936" y="2814937"/>
                </a:moveTo>
                <a:cubicBezTo>
                  <a:pt x="470874" y="2814937"/>
                  <a:pt x="548597" y="2833892"/>
                  <a:pt x="602105" y="2871801"/>
                </a:cubicBezTo>
                <a:cubicBezTo>
                  <a:pt x="655614" y="2909711"/>
                  <a:pt x="687447" y="2970021"/>
                  <a:pt x="697604" y="3052732"/>
                </a:cubicBezTo>
                <a:lnTo>
                  <a:pt x="465251" y="3066336"/>
                </a:lnTo>
                <a:cubicBezTo>
                  <a:pt x="459084" y="3030422"/>
                  <a:pt x="446115" y="3004302"/>
                  <a:pt x="426344" y="2987978"/>
                </a:cubicBezTo>
                <a:cubicBezTo>
                  <a:pt x="406573" y="2971653"/>
                  <a:pt x="379275" y="2963491"/>
                  <a:pt x="344449" y="2963491"/>
                </a:cubicBezTo>
                <a:cubicBezTo>
                  <a:pt x="315790" y="2963491"/>
                  <a:pt x="294205" y="2969567"/>
                  <a:pt x="279695" y="2981720"/>
                </a:cubicBezTo>
                <a:cubicBezTo>
                  <a:pt x="265184" y="2993873"/>
                  <a:pt x="257929" y="3008656"/>
                  <a:pt x="257929" y="3026069"/>
                </a:cubicBezTo>
                <a:cubicBezTo>
                  <a:pt x="257929" y="3038765"/>
                  <a:pt x="263915" y="3050193"/>
                  <a:pt x="275886" y="3060350"/>
                </a:cubicBezTo>
                <a:cubicBezTo>
                  <a:pt x="287494" y="3070870"/>
                  <a:pt x="315065" y="3080665"/>
                  <a:pt x="358597" y="3089735"/>
                </a:cubicBezTo>
                <a:cubicBezTo>
                  <a:pt x="466339" y="3112952"/>
                  <a:pt x="543518" y="3136441"/>
                  <a:pt x="590134" y="3160202"/>
                </a:cubicBezTo>
                <a:cubicBezTo>
                  <a:pt x="636750" y="3183964"/>
                  <a:pt x="670669" y="3213439"/>
                  <a:pt x="691890" y="3248627"/>
                </a:cubicBezTo>
                <a:cubicBezTo>
                  <a:pt x="713113" y="3283816"/>
                  <a:pt x="723724" y="3323176"/>
                  <a:pt x="723724" y="3366708"/>
                </a:cubicBezTo>
                <a:cubicBezTo>
                  <a:pt x="723724" y="3417859"/>
                  <a:pt x="709576" y="3465019"/>
                  <a:pt x="681279" y="3508188"/>
                </a:cubicBezTo>
                <a:cubicBezTo>
                  <a:pt x="652984" y="3551357"/>
                  <a:pt x="613442" y="3584097"/>
                  <a:pt x="562654" y="3606408"/>
                </a:cubicBezTo>
                <a:cubicBezTo>
                  <a:pt x="511867" y="3628718"/>
                  <a:pt x="447838" y="3639873"/>
                  <a:pt x="370568" y="3639873"/>
                </a:cubicBezTo>
                <a:cubicBezTo>
                  <a:pt x="234893" y="3639873"/>
                  <a:pt x="140936" y="3613754"/>
                  <a:pt x="88697" y="3561515"/>
                </a:cubicBezTo>
                <a:cubicBezTo>
                  <a:pt x="36459" y="3509276"/>
                  <a:pt x="6893" y="3442890"/>
                  <a:pt x="0" y="3362355"/>
                </a:cubicBezTo>
                <a:lnTo>
                  <a:pt x="234530" y="3347663"/>
                </a:lnTo>
                <a:cubicBezTo>
                  <a:pt x="239609" y="3385754"/>
                  <a:pt x="249948" y="3414775"/>
                  <a:pt x="265547" y="3434727"/>
                </a:cubicBezTo>
                <a:cubicBezTo>
                  <a:pt x="290941" y="3467014"/>
                  <a:pt x="327218" y="3483157"/>
                  <a:pt x="374377" y="3483157"/>
                </a:cubicBezTo>
                <a:cubicBezTo>
                  <a:pt x="409566" y="3483157"/>
                  <a:pt x="436683" y="3474904"/>
                  <a:pt x="455728" y="3458398"/>
                </a:cubicBezTo>
                <a:cubicBezTo>
                  <a:pt x="474774" y="3441892"/>
                  <a:pt x="484296" y="3422756"/>
                  <a:pt x="484296" y="3400990"/>
                </a:cubicBezTo>
                <a:cubicBezTo>
                  <a:pt x="484296" y="3380312"/>
                  <a:pt x="475227" y="3361811"/>
                  <a:pt x="457088" y="3345486"/>
                </a:cubicBezTo>
                <a:cubicBezTo>
                  <a:pt x="438950" y="3329162"/>
                  <a:pt x="396869" y="3313744"/>
                  <a:pt x="330845" y="3299233"/>
                </a:cubicBezTo>
                <a:cubicBezTo>
                  <a:pt x="222740" y="3274928"/>
                  <a:pt x="145652" y="3242641"/>
                  <a:pt x="99580" y="3202374"/>
                </a:cubicBezTo>
                <a:cubicBezTo>
                  <a:pt x="53146" y="3162107"/>
                  <a:pt x="29929" y="3110775"/>
                  <a:pt x="29929" y="3048379"/>
                </a:cubicBezTo>
                <a:cubicBezTo>
                  <a:pt x="29929" y="3007386"/>
                  <a:pt x="41809" y="2968661"/>
                  <a:pt x="65570" y="2932202"/>
                </a:cubicBezTo>
                <a:cubicBezTo>
                  <a:pt x="89332" y="2895744"/>
                  <a:pt x="125065" y="2867085"/>
                  <a:pt x="172769" y="2846226"/>
                </a:cubicBezTo>
                <a:cubicBezTo>
                  <a:pt x="220473" y="2825367"/>
                  <a:pt x="285862" y="2814937"/>
                  <a:pt x="368936" y="2814937"/>
                </a:cubicBezTo>
                <a:close/>
                <a:moveTo>
                  <a:pt x="5125134" y="0"/>
                </a:moveTo>
                <a:lnTo>
                  <a:pt x="9893903" y="0"/>
                </a:lnTo>
                <a:lnTo>
                  <a:pt x="8304313" y="6858000"/>
                </a:lnTo>
                <a:lnTo>
                  <a:pt x="3535544" y="685800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IN" sz="8800" b="1" dirty="0">
              <a:latin typeface="Arial Black" panose="020B0A040201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6F1C08-F9C4-7537-18BB-4073F0C6417B}"/>
              </a:ext>
            </a:extLst>
          </p:cNvPr>
          <p:cNvSpPr txBox="1"/>
          <p:nvPr/>
        </p:nvSpPr>
        <p:spPr>
          <a:xfrm>
            <a:off x="6366079" y="5382227"/>
            <a:ext cx="45372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 dirty="0">
                <a:solidFill>
                  <a:schemeClr val="bg1"/>
                </a:solidFill>
                <a:latin typeface="DM Sans" pitchFamily="2" charset="0"/>
              </a:rPr>
              <a:t>Visual, Fast, and Stress-Free remote work Management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89AF80E-C9D8-07DC-EFE1-E04C97475ACD}"/>
              </a:ext>
            </a:extLst>
          </p:cNvPr>
          <p:cNvSpPr txBox="1"/>
          <p:nvPr/>
        </p:nvSpPr>
        <p:spPr>
          <a:xfrm>
            <a:off x="6227181" y="6368573"/>
            <a:ext cx="4537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 dirty="0">
                <a:solidFill>
                  <a:schemeClr val="bg1"/>
                </a:solidFill>
                <a:latin typeface="DM Sans" pitchFamily="2" charset="0"/>
              </a:rPr>
              <a:t>By : Ayush and Deepansh</a:t>
            </a:r>
          </a:p>
        </p:txBody>
      </p:sp>
    </p:spTree>
    <p:extLst>
      <p:ext uri="{BB962C8B-B14F-4D97-AF65-F5344CB8AC3E}">
        <p14:creationId xmlns:p14="http://schemas.microsoft.com/office/powerpoint/2010/main" val="3675539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84E4E-8619-B348-F857-E3E6E75F7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A2E0F2A-0E7B-4283-8FA2-66D619CC4B1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ysClr val="windowText" lastClr="000000"/>
                </a:solidFill>
                <a:latin typeface="DM Sans" pitchFamily="2" charset="0"/>
              </a:rPr>
              <a:t>Communication gaps</a:t>
            </a:r>
            <a:endParaRPr lang="en-IN" dirty="0">
              <a:solidFill>
                <a:sysClr val="windowText" lastClr="000000"/>
              </a:solidFill>
              <a:latin typeface="DM Sans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3B699A-4676-4CAD-6395-DD309D14EA7B}"/>
              </a:ext>
            </a:extLst>
          </p:cNvPr>
          <p:cNvSpPr txBox="1"/>
          <p:nvPr/>
        </p:nvSpPr>
        <p:spPr>
          <a:xfrm>
            <a:off x="438372" y="-1578326"/>
            <a:ext cx="329542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Arial Black" panose="020B0A04020102020204" pitchFamily="34" charset="0"/>
              </a:rPr>
              <a:t>THE</a:t>
            </a:r>
            <a:endParaRPr lang="en-US" sz="2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en-US" sz="2800" b="1" dirty="0">
                <a:solidFill>
                  <a:schemeClr val="bg1"/>
                </a:solidFill>
                <a:latin typeface="Arial Black" panose="020B0A04020102020204" pitchFamily="34" charset="0"/>
              </a:rPr>
              <a:t>PROBLEM</a:t>
            </a:r>
            <a:r>
              <a:rPr lang="en-US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endParaRPr lang="en-US" sz="3200" b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en-IN" sz="2000" b="1" dirty="0">
                <a:solidFill>
                  <a:schemeClr val="bg1"/>
                </a:solidFill>
                <a:latin typeface="DM Sans" pitchFamily="2" charset="0"/>
              </a:rPr>
              <a:t>Remote teams struggle with:</a:t>
            </a:r>
            <a:endParaRPr lang="en-IN" sz="1600" b="1" dirty="0">
              <a:solidFill>
                <a:schemeClr val="bg1"/>
              </a:solidFill>
              <a:latin typeface="DM Sans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DAD394-00C0-11AE-2C43-D190530DCB4C}"/>
              </a:ext>
            </a:extLst>
          </p:cNvPr>
          <p:cNvSpPr txBox="1"/>
          <p:nvPr/>
        </p:nvSpPr>
        <p:spPr>
          <a:xfrm>
            <a:off x="13377670" y="5253351"/>
            <a:ext cx="23705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1"/>
                </a:solidFill>
                <a:latin typeface="DM Sans" pitchFamily="2" charset="0"/>
              </a:rPr>
              <a:t>Communication gaps</a:t>
            </a:r>
            <a:endParaRPr lang="en-IN" sz="1600" dirty="0">
              <a:solidFill>
                <a:schemeClr val="bg1"/>
              </a:solidFill>
              <a:latin typeface="DM Sans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1BC320-75A9-50EB-6107-A92E84EEA6C9}"/>
              </a:ext>
            </a:extLst>
          </p:cNvPr>
          <p:cNvSpPr txBox="1"/>
          <p:nvPr/>
        </p:nvSpPr>
        <p:spPr>
          <a:xfrm>
            <a:off x="8269311" y="-1316305"/>
            <a:ext cx="26975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bg1"/>
                </a:solidFill>
                <a:latin typeface="DM Sans" pitchFamily="2" charset="0"/>
              </a:rPr>
              <a:t>No clear task visibility</a:t>
            </a:r>
            <a:endParaRPr lang="en-IN" dirty="0">
              <a:solidFill>
                <a:schemeClr val="bg1"/>
              </a:solidFill>
              <a:latin typeface="DM Sans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2CC973-9307-B9E2-D3E5-F94EDD0E288D}"/>
              </a:ext>
            </a:extLst>
          </p:cNvPr>
          <p:cNvSpPr txBox="1"/>
          <p:nvPr/>
        </p:nvSpPr>
        <p:spPr>
          <a:xfrm>
            <a:off x="-2927522" y="3641214"/>
            <a:ext cx="28141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1"/>
                </a:solidFill>
                <a:latin typeface="DM Sans" pitchFamily="2" charset="0"/>
              </a:rPr>
              <a:t>Managers don’t know what’s done or pending</a:t>
            </a:r>
            <a:endParaRPr lang="en-IN" sz="1600" dirty="0">
              <a:solidFill>
                <a:schemeClr val="bg1"/>
              </a:solidFill>
              <a:latin typeface="DM Sans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0D1117-9142-FAA4-27E7-58FFD5DD0C4E}"/>
              </a:ext>
            </a:extLst>
          </p:cNvPr>
          <p:cNvSpPr txBox="1"/>
          <p:nvPr/>
        </p:nvSpPr>
        <p:spPr>
          <a:xfrm>
            <a:off x="4471454" y="-763684"/>
            <a:ext cx="28656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1"/>
                </a:solidFill>
                <a:latin typeface="DM Sans" pitchFamily="2" charset="0"/>
              </a:rPr>
              <a:t> Delayed work &amp; productivity drop</a:t>
            </a:r>
            <a:endParaRPr lang="en-IN" sz="1600" dirty="0">
              <a:solidFill>
                <a:schemeClr val="bg1"/>
              </a:solidFill>
              <a:latin typeface="DM Sans" pitchFamily="2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1D6E7B1-F783-B3A0-202C-0DF7C9A38ADE}"/>
              </a:ext>
            </a:extLst>
          </p:cNvPr>
          <p:cNvGrpSpPr/>
          <p:nvPr/>
        </p:nvGrpSpPr>
        <p:grpSpPr>
          <a:xfrm rot="13755580">
            <a:off x="3462580" y="7818854"/>
            <a:ext cx="6813939" cy="6513233"/>
            <a:chOff x="3143877" y="3610734"/>
            <a:chExt cx="6813939" cy="6513233"/>
          </a:xfrm>
        </p:grpSpPr>
        <p:sp>
          <p:nvSpPr>
            <p:cNvPr id="26" name="Partial Circle 25">
              <a:extLst>
                <a:ext uri="{FF2B5EF4-FFF2-40B4-BE49-F238E27FC236}">
                  <a16:creationId xmlns:a16="http://schemas.microsoft.com/office/drawing/2014/main" id="{6FF94D7A-ECBE-4BE3-F427-88A65F1CC8F3}"/>
                </a:ext>
              </a:extLst>
            </p:cNvPr>
            <p:cNvSpPr/>
            <p:nvPr/>
          </p:nvSpPr>
          <p:spPr>
            <a:xfrm>
              <a:off x="3143877" y="3610734"/>
              <a:ext cx="6813939" cy="6513233"/>
            </a:xfrm>
            <a:prstGeom prst="pie">
              <a:avLst>
                <a:gd name="adj1" fmla="val 18562940"/>
                <a:gd name="adj2" fmla="val 70"/>
              </a:avLst>
            </a:prstGeom>
            <a:gradFill flip="none" rotWithShape="1">
              <a:gsLst>
                <a:gs pos="0">
                  <a:srgbClr val="FF66CC">
                    <a:shade val="30000"/>
                    <a:satMod val="115000"/>
                  </a:srgbClr>
                </a:gs>
                <a:gs pos="50000">
                  <a:srgbClr val="FF66CC">
                    <a:shade val="67500"/>
                    <a:satMod val="115000"/>
                  </a:srgbClr>
                </a:gs>
                <a:gs pos="100000">
                  <a:srgbClr val="FF66CC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511F733-ECC1-9499-1C06-F4002C91FAC1}"/>
                </a:ext>
              </a:extLst>
            </p:cNvPr>
            <p:cNvSpPr txBox="1"/>
            <p:nvPr/>
          </p:nvSpPr>
          <p:spPr>
            <a:xfrm>
              <a:off x="8644880" y="5841984"/>
              <a:ext cx="107644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b="1" dirty="0">
                  <a:latin typeface="Agency FB" panose="020B0503020202020204" pitchFamily="34" charset="0"/>
                  <a:ea typeface="Malgun Gothic" panose="020B0503020000020004" pitchFamily="34" charset="-127"/>
                </a:rPr>
                <a:t>04</a:t>
              </a:r>
              <a:endParaRPr lang="en-IN" sz="4400" dirty="0">
                <a:latin typeface="Agency FB" panose="020B0503020202020204" pitchFamily="34" charset="0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21BF14B-111F-4225-9111-917F7E84567B}"/>
              </a:ext>
            </a:extLst>
          </p:cNvPr>
          <p:cNvGrpSpPr/>
          <p:nvPr/>
        </p:nvGrpSpPr>
        <p:grpSpPr>
          <a:xfrm rot="15999670">
            <a:off x="3216263" y="7748994"/>
            <a:ext cx="8030218" cy="6652953"/>
            <a:chOff x="2897560" y="3540874"/>
            <a:chExt cx="8030218" cy="6652953"/>
          </a:xfrm>
        </p:grpSpPr>
        <p:sp>
          <p:nvSpPr>
            <p:cNvPr id="29" name="Partial Circle 28">
              <a:extLst>
                <a:ext uri="{FF2B5EF4-FFF2-40B4-BE49-F238E27FC236}">
                  <a16:creationId xmlns:a16="http://schemas.microsoft.com/office/drawing/2014/main" id="{EBCF9951-08AB-D0B2-79F5-624642A62F84}"/>
                </a:ext>
              </a:extLst>
            </p:cNvPr>
            <p:cNvSpPr/>
            <p:nvPr/>
          </p:nvSpPr>
          <p:spPr>
            <a:xfrm rot="165131">
              <a:off x="2897560" y="3540874"/>
              <a:ext cx="8030218" cy="6652953"/>
            </a:xfrm>
            <a:prstGeom prst="pie">
              <a:avLst>
                <a:gd name="adj1" fmla="val 16113815"/>
                <a:gd name="adj2" fmla="val 19519026"/>
              </a:avLst>
            </a:prstGeom>
            <a:gradFill flip="none" rotWithShape="1">
              <a:gsLst>
                <a:gs pos="0">
                  <a:srgbClr val="92D050">
                    <a:shade val="30000"/>
                    <a:satMod val="115000"/>
                  </a:srgbClr>
                </a:gs>
                <a:gs pos="50000">
                  <a:srgbClr val="92D050">
                    <a:shade val="67500"/>
                    <a:satMod val="115000"/>
                  </a:srgbClr>
                </a:gs>
                <a:gs pos="100000">
                  <a:srgbClr val="92D05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87ADC41-2B06-B53E-2F1D-80D948B1DD85}"/>
                </a:ext>
              </a:extLst>
            </p:cNvPr>
            <p:cNvSpPr txBox="1"/>
            <p:nvPr/>
          </p:nvSpPr>
          <p:spPr>
            <a:xfrm>
              <a:off x="7568435" y="4315184"/>
              <a:ext cx="107644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 b="1" dirty="0">
                  <a:latin typeface="Agency FB" panose="020B0503020202020204" pitchFamily="34" charset="0"/>
                  <a:ea typeface="Malgun Gothic" panose="020B0503020000020004" pitchFamily="34" charset="-127"/>
                </a:rPr>
                <a:t>03</a:t>
              </a:r>
              <a:endParaRPr lang="en-IN" sz="5400" dirty="0">
                <a:latin typeface="Agency FB" panose="020B0503020202020204" pitchFamily="34" charset="0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AF222F6-A3C0-17B1-AE59-35B814236917}"/>
              </a:ext>
            </a:extLst>
          </p:cNvPr>
          <p:cNvGrpSpPr/>
          <p:nvPr/>
        </p:nvGrpSpPr>
        <p:grpSpPr>
          <a:xfrm rot="18416015">
            <a:off x="3582764" y="7360527"/>
            <a:ext cx="7297217" cy="7386083"/>
            <a:chOff x="3264061" y="3152407"/>
            <a:chExt cx="7297217" cy="7386083"/>
          </a:xfrm>
        </p:grpSpPr>
        <p:sp>
          <p:nvSpPr>
            <p:cNvPr id="32" name="Partial Circle 31">
              <a:extLst>
                <a:ext uri="{FF2B5EF4-FFF2-40B4-BE49-F238E27FC236}">
                  <a16:creationId xmlns:a16="http://schemas.microsoft.com/office/drawing/2014/main" id="{D1D151E0-C900-37A6-D47A-49BDF0564853}"/>
                </a:ext>
              </a:extLst>
            </p:cNvPr>
            <p:cNvSpPr/>
            <p:nvPr/>
          </p:nvSpPr>
          <p:spPr>
            <a:xfrm>
              <a:off x="3264061" y="3152407"/>
              <a:ext cx="7297217" cy="7386083"/>
            </a:xfrm>
            <a:prstGeom prst="pie">
              <a:avLst>
                <a:gd name="adj1" fmla="val 14074468"/>
                <a:gd name="adj2" fmla="val 16983616"/>
              </a:avLst>
            </a:prstGeom>
            <a:gradFill flip="none" rotWithShape="1">
              <a:gsLst>
                <a:gs pos="0">
                  <a:srgbClr val="FF66CC">
                    <a:shade val="30000"/>
                    <a:satMod val="115000"/>
                  </a:srgbClr>
                </a:gs>
                <a:gs pos="50000">
                  <a:srgbClr val="FF66CC">
                    <a:shade val="67500"/>
                    <a:satMod val="115000"/>
                  </a:srgbClr>
                </a:gs>
                <a:gs pos="100000">
                  <a:srgbClr val="FF66CC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BDE8A61-E604-32B7-5446-9B56C007DBFB}"/>
                </a:ext>
              </a:extLst>
            </p:cNvPr>
            <p:cNvSpPr txBox="1"/>
            <p:nvPr/>
          </p:nvSpPr>
          <p:spPr>
            <a:xfrm>
              <a:off x="5901463" y="3776575"/>
              <a:ext cx="1076445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600" b="1" dirty="0">
                  <a:latin typeface="Agency FB" panose="020B0503020202020204" pitchFamily="34" charset="0"/>
                  <a:ea typeface="Malgun Gothic" panose="020B0503020000020004" pitchFamily="34" charset="-127"/>
                </a:rPr>
                <a:t>02</a:t>
              </a:r>
              <a:endParaRPr lang="en-IN" sz="6000" dirty="0">
                <a:latin typeface="Agency FB" panose="020B0503020202020204" pitchFamily="34" charset="0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021ADEC-25B0-E152-EA1F-F226F8433D25}"/>
              </a:ext>
            </a:extLst>
          </p:cNvPr>
          <p:cNvGrpSpPr/>
          <p:nvPr/>
        </p:nvGrpSpPr>
        <p:grpSpPr>
          <a:xfrm>
            <a:off x="2376468" y="6934989"/>
            <a:ext cx="9840285" cy="8331711"/>
            <a:chOff x="2057765" y="2726869"/>
            <a:chExt cx="9840285" cy="8331711"/>
          </a:xfrm>
        </p:grpSpPr>
        <p:sp>
          <p:nvSpPr>
            <p:cNvPr id="35" name="Partial Circle 34">
              <a:extLst>
                <a:ext uri="{FF2B5EF4-FFF2-40B4-BE49-F238E27FC236}">
                  <a16:creationId xmlns:a16="http://schemas.microsoft.com/office/drawing/2014/main" id="{F5DD00FB-BBAF-544C-E1EF-95150C4CC17A}"/>
                </a:ext>
              </a:extLst>
            </p:cNvPr>
            <p:cNvSpPr/>
            <p:nvPr/>
          </p:nvSpPr>
          <p:spPr>
            <a:xfrm>
              <a:off x="2057765" y="2726869"/>
              <a:ext cx="9840285" cy="8331711"/>
            </a:xfrm>
            <a:prstGeom prst="pie">
              <a:avLst>
                <a:gd name="adj1" fmla="val 10813448"/>
                <a:gd name="adj2" fmla="val 14102841"/>
              </a:avLst>
            </a:prstGeom>
            <a:gradFill flip="none" rotWithShape="1">
              <a:gsLst>
                <a:gs pos="0">
                  <a:srgbClr val="92D050">
                    <a:shade val="30000"/>
                    <a:satMod val="115000"/>
                  </a:srgbClr>
                </a:gs>
                <a:gs pos="50000">
                  <a:srgbClr val="92D050">
                    <a:shade val="67500"/>
                    <a:satMod val="115000"/>
                  </a:srgbClr>
                </a:gs>
                <a:gs pos="100000">
                  <a:srgbClr val="92D05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BFD8C5B-2B7D-58E0-48ED-DCF972442716}"/>
                </a:ext>
              </a:extLst>
            </p:cNvPr>
            <p:cNvSpPr txBox="1"/>
            <p:nvPr/>
          </p:nvSpPr>
          <p:spPr>
            <a:xfrm>
              <a:off x="3565003" y="4781644"/>
              <a:ext cx="1076445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0" b="1" dirty="0">
                  <a:latin typeface="Agency FB" panose="020B0503020202020204" pitchFamily="34" charset="0"/>
                  <a:ea typeface="Malgun Gothic" panose="020B0503020000020004" pitchFamily="34" charset="-127"/>
                </a:rPr>
                <a:t>01</a:t>
              </a:r>
              <a:endParaRPr lang="en-IN" sz="7200" dirty="0">
                <a:latin typeface="Agency FB" panose="020B0503020202020204" pitchFamily="34" charset="0"/>
                <a:ea typeface="Malgun Gothic" panose="020B0503020000020004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95474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389F0-23AE-D34C-FEC0-019CEC66C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91BFBC1-2B3A-D5F1-B4E6-CE65F93ACF3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ysClr val="windowText" lastClr="000000"/>
                </a:solidFill>
                <a:latin typeface="DM Sans" pitchFamily="2" charset="0"/>
              </a:rPr>
              <a:t>Communication gaps</a:t>
            </a:r>
            <a:endParaRPr lang="en-IN" dirty="0">
              <a:solidFill>
                <a:sysClr val="windowText" lastClr="000000"/>
              </a:solidFill>
              <a:latin typeface="DM Sans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214C98-3B84-04CB-B55B-024538F82805}"/>
              </a:ext>
            </a:extLst>
          </p:cNvPr>
          <p:cNvSpPr txBox="1"/>
          <p:nvPr/>
        </p:nvSpPr>
        <p:spPr>
          <a:xfrm>
            <a:off x="438372" y="414596"/>
            <a:ext cx="403308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Arial Black" panose="020B0A04020102020204" pitchFamily="34" charset="0"/>
              </a:rPr>
              <a:t>THE</a:t>
            </a:r>
            <a:endParaRPr lang="en-US" sz="2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en-US" sz="2800" b="1" dirty="0">
                <a:solidFill>
                  <a:schemeClr val="bg1"/>
                </a:solidFill>
                <a:latin typeface="Arial Black" panose="020B0A04020102020204" pitchFamily="34" charset="0"/>
              </a:rPr>
              <a:t>PROBLEM</a:t>
            </a:r>
            <a:r>
              <a:rPr lang="en-US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endParaRPr lang="en-US" sz="3200" b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en-IN" sz="2000" b="1" dirty="0">
                <a:solidFill>
                  <a:schemeClr val="bg1"/>
                </a:solidFill>
                <a:latin typeface="DM Sans" pitchFamily="2" charset="0"/>
              </a:rPr>
              <a:t>Remote teams struggle with:</a:t>
            </a:r>
            <a:endParaRPr lang="en-IN" sz="1600" b="1" dirty="0">
              <a:solidFill>
                <a:schemeClr val="bg1"/>
              </a:solidFill>
              <a:latin typeface="DM Sans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BCC1E6-050E-C57B-F741-6688DE938EF2}"/>
              </a:ext>
            </a:extLst>
          </p:cNvPr>
          <p:cNvSpPr txBox="1"/>
          <p:nvPr/>
        </p:nvSpPr>
        <p:spPr>
          <a:xfrm>
            <a:off x="9572930" y="5229227"/>
            <a:ext cx="25797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1"/>
                </a:solidFill>
                <a:latin typeface="DM Sans" pitchFamily="2" charset="0"/>
              </a:rPr>
              <a:t>Communication gaps</a:t>
            </a:r>
            <a:endParaRPr lang="en-IN" sz="1600" dirty="0">
              <a:solidFill>
                <a:schemeClr val="bg1"/>
              </a:solidFill>
              <a:latin typeface="DM Sans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57F33A-B3C6-EECD-6435-28AB0F4E34C5}"/>
              </a:ext>
            </a:extLst>
          </p:cNvPr>
          <p:cNvSpPr txBox="1"/>
          <p:nvPr/>
        </p:nvSpPr>
        <p:spPr>
          <a:xfrm>
            <a:off x="8269311" y="2810217"/>
            <a:ext cx="26975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bg1"/>
                </a:solidFill>
                <a:latin typeface="DM Sans" pitchFamily="2" charset="0"/>
              </a:rPr>
              <a:t>No clear task visibility</a:t>
            </a:r>
            <a:endParaRPr lang="en-IN" dirty="0">
              <a:solidFill>
                <a:schemeClr val="bg1"/>
              </a:solidFill>
              <a:latin typeface="DM Sans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E554CF-51F2-B05D-7019-A86491E0CA39}"/>
              </a:ext>
            </a:extLst>
          </p:cNvPr>
          <p:cNvSpPr txBox="1"/>
          <p:nvPr/>
        </p:nvSpPr>
        <p:spPr>
          <a:xfrm>
            <a:off x="261152" y="3641214"/>
            <a:ext cx="28141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1"/>
                </a:solidFill>
                <a:latin typeface="DM Sans" pitchFamily="2" charset="0"/>
              </a:rPr>
              <a:t>Managers don’t know what’s done or pending</a:t>
            </a:r>
            <a:endParaRPr lang="en-IN" sz="1600" dirty="0">
              <a:solidFill>
                <a:schemeClr val="bg1"/>
              </a:solidFill>
              <a:latin typeface="DM Sans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B8841F-055C-8EAF-5FB1-4E40A6AC7750}"/>
              </a:ext>
            </a:extLst>
          </p:cNvPr>
          <p:cNvSpPr txBox="1"/>
          <p:nvPr/>
        </p:nvSpPr>
        <p:spPr>
          <a:xfrm>
            <a:off x="4471454" y="2002960"/>
            <a:ext cx="28656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1"/>
                </a:solidFill>
                <a:latin typeface="DM Sans" pitchFamily="2" charset="0"/>
              </a:rPr>
              <a:t> Delayed work &amp; productivity drop</a:t>
            </a:r>
            <a:endParaRPr lang="en-IN" sz="1600" dirty="0">
              <a:solidFill>
                <a:schemeClr val="bg1"/>
              </a:solidFill>
              <a:latin typeface="DM Sans" pitchFamily="2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AF2F826-C92E-B230-1B73-BD104A86765C}"/>
              </a:ext>
            </a:extLst>
          </p:cNvPr>
          <p:cNvGrpSpPr/>
          <p:nvPr/>
        </p:nvGrpSpPr>
        <p:grpSpPr>
          <a:xfrm>
            <a:off x="3143877" y="3610734"/>
            <a:ext cx="6813939" cy="6513233"/>
            <a:chOff x="3143877" y="3610734"/>
            <a:chExt cx="6813939" cy="6513233"/>
          </a:xfrm>
        </p:grpSpPr>
        <p:sp>
          <p:nvSpPr>
            <p:cNvPr id="26" name="Partial Circle 25">
              <a:extLst>
                <a:ext uri="{FF2B5EF4-FFF2-40B4-BE49-F238E27FC236}">
                  <a16:creationId xmlns:a16="http://schemas.microsoft.com/office/drawing/2014/main" id="{FDA42585-5D2F-072F-3AD3-8FC4FD397E61}"/>
                </a:ext>
              </a:extLst>
            </p:cNvPr>
            <p:cNvSpPr/>
            <p:nvPr/>
          </p:nvSpPr>
          <p:spPr>
            <a:xfrm>
              <a:off x="3143877" y="3610734"/>
              <a:ext cx="6813939" cy="6513233"/>
            </a:xfrm>
            <a:prstGeom prst="pie">
              <a:avLst>
                <a:gd name="adj1" fmla="val 18562940"/>
                <a:gd name="adj2" fmla="val 70"/>
              </a:avLst>
            </a:prstGeom>
            <a:gradFill flip="none" rotWithShape="1">
              <a:gsLst>
                <a:gs pos="0">
                  <a:srgbClr val="FF66CC">
                    <a:shade val="30000"/>
                    <a:satMod val="115000"/>
                  </a:srgbClr>
                </a:gs>
                <a:gs pos="50000">
                  <a:srgbClr val="FF66CC">
                    <a:shade val="67500"/>
                    <a:satMod val="115000"/>
                  </a:srgbClr>
                </a:gs>
                <a:gs pos="100000">
                  <a:srgbClr val="FF66CC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ED6BA50-762D-2794-D5F4-3B5BAC197988}"/>
                </a:ext>
              </a:extLst>
            </p:cNvPr>
            <p:cNvSpPr txBox="1"/>
            <p:nvPr/>
          </p:nvSpPr>
          <p:spPr>
            <a:xfrm>
              <a:off x="8644880" y="5841984"/>
              <a:ext cx="107644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b="1" dirty="0">
                  <a:latin typeface="Agency FB" panose="020B0503020202020204" pitchFamily="34" charset="0"/>
                  <a:ea typeface="Malgun Gothic" panose="020B0503020000020004" pitchFamily="34" charset="-127"/>
                </a:rPr>
                <a:t>04</a:t>
              </a:r>
              <a:endParaRPr lang="en-IN" sz="4400" dirty="0">
                <a:latin typeface="Agency FB" panose="020B0503020202020204" pitchFamily="34" charset="0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8310612-1DE4-4711-FC84-695E0B33CBE5}"/>
              </a:ext>
            </a:extLst>
          </p:cNvPr>
          <p:cNvGrpSpPr/>
          <p:nvPr/>
        </p:nvGrpSpPr>
        <p:grpSpPr>
          <a:xfrm>
            <a:off x="2897560" y="3540874"/>
            <a:ext cx="8030218" cy="6652953"/>
            <a:chOff x="2897560" y="3540874"/>
            <a:chExt cx="8030218" cy="6652953"/>
          </a:xfrm>
        </p:grpSpPr>
        <p:sp>
          <p:nvSpPr>
            <p:cNvPr id="29" name="Partial Circle 28">
              <a:extLst>
                <a:ext uri="{FF2B5EF4-FFF2-40B4-BE49-F238E27FC236}">
                  <a16:creationId xmlns:a16="http://schemas.microsoft.com/office/drawing/2014/main" id="{F10FAABB-98E6-30B6-F378-A3FA98F09DB9}"/>
                </a:ext>
              </a:extLst>
            </p:cNvPr>
            <p:cNvSpPr/>
            <p:nvPr/>
          </p:nvSpPr>
          <p:spPr>
            <a:xfrm rot="165131">
              <a:off x="2897560" y="3540874"/>
              <a:ext cx="8030218" cy="6652953"/>
            </a:xfrm>
            <a:prstGeom prst="pie">
              <a:avLst>
                <a:gd name="adj1" fmla="val 16113815"/>
                <a:gd name="adj2" fmla="val 19519026"/>
              </a:avLst>
            </a:prstGeom>
            <a:gradFill flip="none" rotWithShape="1">
              <a:gsLst>
                <a:gs pos="0">
                  <a:srgbClr val="92D050">
                    <a:shade val="30000"/>
                    <a:satMod val="115000"/>
                  </a:srgbClr>
                </a:gs>
                <a:gs pos="50000">
                  <a:srgbClr val="92D050">
                    <a:shade val="67500"/>
                    <a:satMod val="115000"/>
                  </a:srgbClr>
                </a:gs>
                <a:gs pos="100000">
                  <a:srgbClr val="92D05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6FE4273-D797-76C8-0C16-56983EEF9E5B}"/>
                </a:ext>
              </a:extLst>
            </p:cNvPr>
            <p:cNvSpPr txBox="1"/>
            <p:nvPr/>
          </p:nvSpPr>
          <p:spPr>
            <a:xfrm>
              <a:off x="7568435" y="4315184"/>
              <a:ext cx="107644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 b="1" dirty="0">
                  <a:latin typeface="Agency FB" panose="020B0503020202020204" pitchFamily="34" charset="0"/>
                  <a:ea typeface="Malgun Gothic" panose="020B0503020000020004" pitchFamily="34" charset="-127"/>
                </a:rPr>
                <a:t>03</a:t>
              </a:r>
              <a:endParaRPr lang="en-IN" sz="5400" dirty="0">
                <a:latin typeface="Agency FB" panose="020B0503020202020204" pitchFamily="34" charset="0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9206895-55A2-8CB3-BDB3-0DA3CD2FB47C}"/>
              </a:ext>
            </a:extLst>
          </p:cNvPr>
          <p:cNvGrpSpPr/>
          <p:nvPr/>
        </p:nvGrpSpPr>
        <p:grpSpPr>
          <a:xfrm>
            <a:off x="3264061" y="3152407"/>
            <a:ext cx="7297217" cy="7386083"/>
            <a:chOff x="3264061" y="3152407"/>
            <a:chExt cx="7297217" cy="7386083"/>
          </a:xfrm>
        </p:grpSpPr>
        <p:sp>
          <p:nvSpPr>
            <p:cNvPr id="32" name="Partial Circle 31">
              <a:extLst>
                <a:ext uri="{FF2B5EF4-FFF2-40B4-BE49-F238E27FC236}">
                  <a16:creationId xmlns:a16="http://schemas.microsoft.com/office/drawing/2014/main" id="{5C4F09DB-74DB-E7C4-BF6B-E1CB50AD7C44}"/>
                </a:ext>
              </a:extLst>
            </p:cNvPr>
            <p:cNvSpPr/>
            <p:nvPr/>
          </p:nvSpPr>
          <p:spPr>
            <a:xfrm>
              <a:off x="3264061" y="3152407"/>
              <a:ext cx="7297217" cy="7386083"/>
            </a:xfrm>
            <a:prstGeom prst="pie">
              <a:avLst>
                <a:gd name="adj1" fmla="val 14074468"/>
                <a:gd name="adj2" fmla="val 16983616"/>
              </a:avLst>
            </a:prstGeom>
            <a:gradFill flip="none" rotWithShape="1">
              <a:gsLst>
                <a:gs pos="0">
                  <a:srgbClr val="FF66CC">
                    <a:shade val="30000"/>
                    <a:satMod val="115000"/>
                  </a:srgbClr>
                </a:gs>
                <a:gs pos="50000">
                  <a:srgbClr val="FF66CC">
                    <a:shade val="67500"/>
                    <a:satMod val="115000"/>
                  </a:srgbClr>
                </a:gs>
                <a:gs pos="100000">
                  <a:srgbClr val="FF66CC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0DCE4C5-4D86-CA95-87B0-A2D7463940A0}"/>
                </a:ext>
              </a:extLst>
            </p:cNvPr>
            <p:cNvSpPr txBox="1"/>
            <p:nvPr/>
          </p:nvSpPr>
          <p:spPr>
            <a:xfrm>
              <a:off x="5901463" y="3776575"/>
              <a:ext cx="1076445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600" b="1" dirty="0">
                  <a:latin typeface="Agency FB" panose="020B0503020202020204" pitchFamily="34" charset="0"/>
                  <a:ea typeface="Malgun Gothic" panose="020B0503020000020004" pitchFamily="34" charset="-127"/>
                </a:rPr>
                <a:t>02</a:t>
              </a:r>
              <a:endParaRPr lang="en-IN" sz="6000" dirty="0">
                <a:latin typeface="Agency FB" panose="020B0503020202020204" pitchFamily="34" charset="0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0F9EFC9-FC64-160D-D3C7-52833E5EFC27}"/>
              </a:ext>
            </a:extLst>
          </p:cNvPr>
          <p:cNvGrpSpPr/>
          <p:nvPr/>
        </p:nvGrpSpPr>
        <p:grpSpPr>
          <a:xfrm>
            <a:off x="2034615" y="2726869"/>
            <a:ext cx="9840285" cy="8331711"/>
            <a:chOff x="2057765" y="2726869"/>
            <a:chExt cx="9840285" cy="8331711"/>
          </a:xfrm>
        </p:grpSpPr>
        <p:sp>
          <p:nvSpPr>
            <p:cNvPr id="35" name="Partial Circle 34">
              <a:extLst>
                <a:ext uri="{FF2B5EF4-FFF2-40B4-BE49-F238E27FC236}">
                  <a16:creationId xmlns:a16="http://schemas.microsoft.com/office/drawing/2014/main" id="{BA2AB396-1B7E-66FE-C454-0B7AD0ECCDC2}"/>
                </a:ext>
              </a:extLst>
            </p:cNvPr>
            <p:cNvSpPr/>
            <p:nvPr/>
          </p:nvSpPr>
          <p:spPr>
            <a:xfrm>
              <a:off x="2057765" y="2726869"/>
              <a:ext cx="9840285" cy="8331711"/>
            </a:xfrm>
            <a:prstGeom prst="pie">
              <a:avLst>
                <a:gd name="adj1" fmla="val 10813448"/>
                <a:gd name="adj2" fmla="val 14102841"/>
              </a:avLst>
            </a:prstGeom>
            <a:gradFill flip="none" rotWithShape="1">
              <a:gsLst>
                <a:gs pos="0">
                  <a:srgbClr val="92D050">
                    <a:shade val="30000"/>
                    <a:satMod val="115000"/>
                  </a:srgbClr>
                </a:gs>
                <a:gs pos="50000">
                  <a:srgbClr val="92D050">
                    <a:shade val="67500"/>
                    <a:satMod val="115000"/>
                  </a:srgbClr>
                </a:gs>
                <a:gs pos="100000">
                  <a:srgbClr val="92D05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6F9B469-C184-3F97-E0D2-0C4BAC9CD750}"/>
                </a:ext>
              </a:extLst>
            </p:cNvPr>
            <p:cNvSpPr txBox="1"/>
            <p:nvPr/>
          </p:nvSpPr>
          <p:spPr>
            <a:xfrm>
              <a:off x="3565003" y="4781644"/>
              <a:ext cx="1076445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0" b="1" dirty="0">
                  <a:latin typeface="Agency FB" panose="020B0503020202020204" pitchFamily="34" charset="0"/>
                  <a:ea typeface="Malgun Gothic" panose="020B0503020000020004" pitchFamily="34" charset="-127"/>
                </a:rPr>
                <a:t>01</a:t>
              </a:r>
              <a:endParaRPr lang="en-IN" sz="7200" dirty="0">
                <a:latin typeface="Agency FB" panose="020B0503020202020204" pitchFamily="34" charset="0"/>
                <a:ea typeface="Malgun Gothic" panose="020B0503020000020004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86445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F516552C-5057-A8F7-3976-9709C5C75200}"/>
              </a:ext>
            </a:extLst>
          </p:cNvPr>
          <p:cNvSpPr/>
          <p:nvPr/>
        </p:nvSpPr>
        <p:spPr>
          <a:xfrm>
            <a:off x="3635866" y="3246046"/>
            <a:ext cx="9410733" cy="3850642"/>
          </a:xfrm>
          <a:prstGeom prst="triangl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D1B7ECFD-A62C-27C2-1033-DF68E4AFB9A9}"/>
              </a:ext>
            </a:extLst>
          </p:cNvPr>
          <p:cNvSpPr/>
          <p:nvPr/>
        </p:nvSpPr>
        <p:spPr>
          <a:xfrm rot="10800000">
            <a:off x="2939969" y="-11575"/>
            <a:ext cx="9286757" cy="3761772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664D8DFA-EF8C-137C-F8BA-B98E9CEEA2DD}"/>
              </a:ext>
            </a:extLst>
          </p:cNvPr>
          <p:cNvSpPr/>
          <p:nvPr/>
        </p:nvSpPr>
        <p:spPr>
          <a:xfrm rot="16200000">
            <a:off x="7236684" y="1306585"/>
            <a:ext cx="6154646" cy="3779136"/>
          </a:xfrm>
          <a:prstGeom prst="triangl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40256E-53D6-E72A-CE8F-8CC6FEA59717}"/>
              </a:ext>
            </a:extLst>
          </p:cNvPr>
          <p:cNvSpPr txBox="1"/>
          <p:nvPr/>
        </p:nvSpPr>
        <p:spPr>
          <a:xfrm>
            <a:off x="7211969" y="5123369"/>
            <a:ext cx="28141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PT Serif" panose="020A0603040505020204" pitchFamily="18" charset="0"/>
              </a:rPr>
              <a:t>Done</a:t>
            </a:r>
            <a:endParaRPr lang="en-IN" sz="2400" dirty="0">
              <a:solidFill>
                <a:schemeClr val="bg1">
                  <a:lumMod val="95000"/>
                </a:schemeClr>
              </a:solidFill>
              <a:latin typeface="PT Serif" panose="020A06030405050202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B02CEA-8491-9B80-EC0E-642954434845}"/>
              </a:ext>
            </a:extLst>
          </p:cNvPr>
          <p:cNvSpPr txBox="1"/>
          <p:nvPr/>
        </p:nvSpPr>
        <p:spPr>
          <a:xfrm>
            <a:off x="6472646" y="1082264"/>
            <a:ext cx="28141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PT Serif" panose="020A0603040505020204" pitchFamily="18" charset="0"/>
              </a:rPr>
              <a:t>Unread</a:t>
            </a:r>
            <a:endParaRPr lang="en-IN" sz="2400" dirty="0">
              <a:solidFill>
                <a:schemeClr val="bg1">
                  <a:lumMod val="95000"/>
                </a:schemeClr>
              </a:solidFill>
              <a:latin typeface="PT Serif" panose="020A06030405050202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8DDADB-03C6-A62E-87CB-12925CE5589A}"/>
              </a:ext>
            </a:extLst>
          </p:cNvPr>
          <p:cNvSpPr txBox="1"/>
          <p:nvPr/>
        </p:nvSpPr>
        <p:spPr>
          <a:xfrm>
            <a:off x="9725132" y="2917355"/>
            <a:ext cx="28141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PT Serif" panose="020A0603040505020204" pitchFamily="18" charset="0"/>
              </a:rPr>
              <a:t>Pending</a:t>
            </a:r>
            <a:endParaRPr lang="en-IN" sz="2400" dirty="0">
              <a:solidFill>
                <a:schemeClr val="bg1">
                  <a:lumMod val="95000"/>
                </a:schemeClr>
              </a:solidFill>
              <a:latin typeface="PT Serif" panose="020A06030405050202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D9768A-8B16-A8D3-9CD9-F9C8BB699431}"/>
              </a:ext>
            </a:extLst>
          </p:cNvPr>
          <p:cNvSpPr txBox="1"/>
          <p:nvPr/>
        </p:nvSpPr>
        <p:spPr>
          <a:xfrm>
            <a:off x="469482" y="4340370"/>
            <a:ext cx="521272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DM Sans" pitchFamily="2" charset="0"/>
              </a:rPr>
              <a:t>Benefits:</a:t>
            </a:r>
            <a:endParaRPr lang="en-US" sz="1600" b="1" dirty="0">
              <a:latin typeface="DM Sans" pitchFamily="2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>
                <a:latin typeface="DM Sans" pitchFamily="2" charset="0"/>
              </a:rPr>
              <a:t>Instant clarity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>
                <a:latin typeface="DM Sans" pitchFamily="2" charset="0"/>
              </a:rPr>
              <a:t>Zero confusion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>
                <a:latin typeface="DM Sans" pitchFamily="2" charset="0"/>
              </a:rPr>
              <a:t>Manager sees everything at a glance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>
                <a:latin typeface="DM Sans" pitchFamily="2" charset="0"/>
              </a:rPr>
              <a:t>Employees stay focused</a:t>
            </a:r>
            <a:endParaRPr lang="en-IN" sz="1600" dirty="0">
              <a:latin typeface="DM Sans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961AEC-84D6-399B-56AD-43B23AD7FFF0}"/>
              </a:ext>
            </a:extLst>
          </p:cNvPr>
          <p:cNvSpPr txBox="1"/>
          <p:nvPr/>
        </p:nvSpPr>
        <p:spPr>
          <a:xfrm>
            <a:off x="-491336" y="878928"/>
            <a:ext cx="4679066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Arial Black" panose="020B0A04020102020204" pitchFamily="34" charset="0"/>
              </a:rPr>
              <a:t>Our Core Idea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  </a:t>
            </a:r>
            <a:r>
              <a:rPr lang="en-US" dirty="0">
                <a:latin typeface="DM Sans" pitchFamily="2" charset="0"/>
              </a:rPr>
              <a:t>(Slot-Based Work System)</a:t>
            </a:r>
            <a:endParaRPr lang="en-IN" dirty="0">
              <a:latin typeface="DM Sans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2535A1-AB44-C8CD-7D89-6726898E01DA}"/>
              </a:ext>
            </a:extLst>
          </p:cNvPr>
          <p:cNvSpPr txBox="1"/>
          <p:nvPr/>
        </p:nvSpPr>
        <p:spPr>
          <a:xfrm>
            <a:off x="362770" y="2288658"/>
            <a:ext cx="5850295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DM Sans" pitchFamily="2" charset="0"/>
              </a:rPr>
              <a:t>Introducing: </a:t>
            </a:r>
            <a:r>
              <a:rPr lang="en-US" sz="1600" dirty="0">
                <a:latin typeface="DM Sans" pitchFamily="2" charset="0"/>
              </a:rPr>
              <a:t>SLOT SYSTEM Tasks come in individual slots instead of messy lists.</a:t>
            </a:r>
          </a:p>
          <a:p>
            <a:endParaRPr lang="en-US" sz="1600" dirty="0">
              <a:latin typeface="DM Sans" pitchFamily="2" charset="0"/>
            </a:endParaRPr>
          </a:p>
          <a:p>
            <a:r>
              <a:rPr lang="en-US" sz="1600" dirty="0">
                <a:latin typeface="DM Sans" pitchFamily="2" charset="0"/>
              </a:rPr>
              <a:t> </a:t>
            </a:r>
            <a:r>
              <a:rPr lang="en-US" b="1" dirty="0">
                <a:latin typeface="DM Sans" pitchFamily="2" charset="0"/>
              </a:rPr>
              <a:t>Each slot has a status light:</a:t>
            </a:r>
          </a:p>
          <a:p>
            <a:r>
              <a:rPr lang="en-US" sz="1600" dirty="0">
                <a:latin typeface="DM Sans" pitchFamily="2" charset="0"/>
              </a:rPr>
              <a:t>🔴 Unread</a:t>
            </a:r>
          </a:p>
          <a:p>
            <a:r>
              <a:rPr lang="en-US" sz="1600" dirty="0">
                <a:latin typeface="DM Sans" pitchFamily="2" charset="0"/>
              </a:rPr>
              <a:t>🟡 Pending</a:t>
            </a:r>
          </a:p>
          <a:p>
            <a:r>
              <a:rPr lang="en-US" sz="1600" dirty="0">
                <a:latin typeface="DM Sans" pitchFamily="2" charset="0"/>
              </a:rPr>
              <a:t>🟢 Done</a:t>
            </a:r>
            <a:endParaRPr lang="en-IN" sz="1600" dirty="0">
              <a:latin typeface="DM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8684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/>
      <p:bldP spid="11" grpId="0"/>
      <p:bldP spid="12" grpId="0"/>
      <p:bldP spid="13" grpId="0"/>
      <p:bldP spid="15" grpId="0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7AE20-544E-4B7C-581A-25884BD80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87A2F7EB-29CE-C7FC-C4ED-9168ABE7FD08}"/>
              </a:ext>
            </a:extLst>
          </p:cNvPr>
          <p:cNvGrpSpPr/>
          <p:nvPr/>
        </p:nvGrpSpPr>
        <p:grpSpPr>
          <a:xfrm>
            <a:off x="992025" y="0"/>
            <a:ext cx="3283723" cy="6858000"/>
            <a:chOff x="9337380" y="0"/>
            <a:chExt cx="3283723" cy="6858000"/>
          </a:xfrm>
        </p:grpSpPr>
        <p:sp>
          <p:nvSpPr>
            <p:cNvPr id="26" name="Isosceles Triangle 25">
              <a:extLst>
                <a:ext uri="{FF2B5EF4-FFF2-40B4-BE49-F238E27FC236}">
                  <a16:creationId xmlns:a16="http://schemas.microsoft.com/office/drawing/2014/main" id="{760F8FCC-6014-4699-C581-C3F2D490A334}"/>
                </a:ext>
              </a:extLst>
            </p:cNvPr>
            <p:cNvSpPr/>
            <p:nvPr/>
          </p:nvSpPr>
          <p:spPr>
            <a:xfrm rot="5400000">
              <a:off x="11946566" y="1530184"/>
              <a:ext cx="905888" cy="443187"/>
            </a:xfrm>
            <a:prstGeom prst="triangl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87FB2B2-46A6-433A-9068-AE57E6BAEFD3}"/>
                </a:ext>
              </a:extLst>
            </p:cNvPr>
            <p:cNvGrpSpPr/>
            <p:nvPr/>
          </p:nvGrpSpPr>
          <p:grpSpPr>
            <a:xfrm>
              <a:off x="9337380" y="0"/>
              <a:ext cx="2854619" cy="6858000"/>
              <a:chOff x="9337380" y="0"/>
              <a:chExt cx="2854619" cy="685800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4AE8E41B-7BF5-6DA2-EAFB-54CB8487067E}"/>
                  </a:ext>
                </a:extLst>
              </p:cNvPr>
              <p:cNvSpPr/>
              <p:nvPr/>
            </p:nvSpPr>
            <p:spPr>
              <a:xfrm>
                <a:off x="9337380" y="0"/>
                <a:ext cx="2854619" cy="685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F309561-BE86-518E-EF8C-FD1E9BB9B65E}"/>
                  </a:ext>
                </a:extLst>
              </p:cNvPr>
              <p:cNvSpPr txBox="1"/>
              <p:nvPr/>
            </p:nvSpPr>
            <p:spPr>
              <a:xfrm>
                <a:off x="9420689" y="643035"/>
                <a:ext cx="2662034" cy="46628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5000" b="1" dirty="0">
                    <a:solidFill>
                      <a:schemeClr val="bg1"/>
                    </a:solidFill>
                    <a:latin typeface="DM Sans" pitchFamily="2" charset="0"/>
                  </a:rPr>
                  <a:t>4</a:t>
                </a:r>
                <a:endParaRPr lang="en-US" sz="2000" b="1" dirty="0">
                  <a:solidFill>
                    <a:schemeClr val="bg1"/>
                  </a:solidFill>
                  <a:latin typeface="DM Sans" pitchFamily="2" charset="0"/>
                </a:endParaRPr>
              </a:p>
              <a:p>
                <a:pPr algn="ctr"/>
                <a:endParaRPr lang="en-US" b="1" dirty="0">
                  <a:solidFill>
                    <a:schemeClr val="bg1"/>
                  </a:solidFill>
                  <a:latin typeface="DM Sans" pitchFamily="2" charset="0"/>
                </a:endParaRPr>
              </a:p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DM Sans" pitchFamily="2" charset="0"/>
                  </a:rPr>
                  <a:t>S</a:t>
                </a:r>
                <a:r>
                  <a:rPr lang="en-US" sz="2400" b="1" dirty="0">
                    <a:solidFill>
                      <a:schemeClr val="bg1"/>
                    </a:solidFill>
                    <a:latin typeface="DM Sans" pitchFamily="2" charset="0"/>
                  </a:rPr>
                  <a:t>ubmission</a:t>
                </a:r>
                <a:endParaRPr lang="en-US" sz="2400" dirty="0">
                  <a:solidFill>
                    <a:schemeClr val="bg1"/>
                  </a:solidFill>
                  <a:latin typeface="DM Sans" pitchFamily="2" charset="0"/>
                </a:endParaRPr>
              </a:p>
              <a:p>
                <a:pPr algn="ctr"/>
                <a:r>
                  <a:rPr lang="en-US" dirty="0">
                    <a:solidFill>
                      <a:schemeClr val="bg1"/>
                    </a:solidFill>
                    <a:latin typeface="DM Sans" pitchFamily="2" charset="0"/>
                  </a:rPr>
                  <a:t>(File/Report)</a:t>
                </a:r>
              </a:p>
              <a:p>
                <a:pPr algn="ctr"/>
                <a:endParaRPr lang="en-US" sz="100" dirty="0">
                  <a:solidFill>
                    <a:schemeClr val="bg1"/>
                  </a:solidFill>
                  <a:latin typeface="DM Sans" pitchFamily="2" charset="0"/>
                </a:endParaRPr>
              </a:p>
              <a:p>
                <a:pPr algn="ctr"/>
                <a:endParaRPr lang="en-US" dirty="0">
                  <a:solidFill>
                    <a:schemeClr val="bg1"/>
                  </a:solidFill>
                  <a:latin typeface="DM Sans" pitchFamily="2" charset="0"/>
                </a:endParaRPr>
              </a:p>
              <a:p>
                <a:pPr algn="ctr"/>
                <a:r>
                  <a:rPr lang="en-US" dirty="0">
                    <a:solidFill>
                      <a:schemeClr val="bg1"/>
                    </a:solidFill>
                    <a:latin typeface="DM Sans" pitchFamily="2" charset="0"/>
                  </a:rPr>
                  <a:t>One place for task + discussion + submission</a:t>
                </a:r>
                <a:endParaRPr lang="en-IN" dirty="0">
                  <a:solidFill>
                    <a:schemeClr val="bg1"/>
                  </a:solidFill>
                  <a:latin typeface="DM Sans" pitchFamily="2" charset="0"/>
                </a:endParaRPr>
              </a:p>
            </p:txBody>
          </p: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AD5ED00-70D5-0ACF-8D3E-F0F016FB0780}"/>
              </a:ext>
            </a:extLst>
          </p:cNvPr>
          <p:cNvGrpSpPr/>
          <p:nvPr/>
        </p:nvGrpSpPr>
        <p:grpSpPr>
          <a:xfrm>
            <a:off x="619806" y="0"/>
            <a:ext cx="3466012" cy="6858000"/>
            <a:chOff x="6314554" y="0"/>
            <a:chExt cx="3466012" cy="6858000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BA4FB12-424E-A2C4-1AFD-680EB822703B}"/>
                </a:ext>
              </a:extLst>
            </p:cNvPr>
            <p:cNvSpPr/>
            <p:nvPr/>
          </p:nvSpPr>
          <p:spPr>
            <a:xfrm>
              <a:off x="6314554" y="0"/>
              <a:ext cx="3032532" cy="6858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E668D50C-3525-2A25-7B24-274D69995C11}"/>
                </a:ext>
              </a:extLst>
            </p:cNvPr>
            <p:cNvGrpSpPr/>
            <p:nvPr/>
          </p:nvGrpSpPr>
          <p:grpSpPr>
            <a:xfrm>
              <a:off x="6329908" y="349884"/>
              <a:ext cx="3450658" cy="4955203"/>
              <a:chOff x="6329908" y="349884"/>
              <a:chExt cx="3450658" cy="4955203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7DB9D35-82C4-6D79-FECD-822747A58ED5}"/>
                  </a:ext>
                </a:extLst>
              </p:cNvPr>
              <p:cNvSpPr txBox="1"/>
              <p:nvPr/>
            </p:nvSpPr>
            <p:spPr>
              <a:xfrm>
                <a:off x="6329908" y="349884"/>
                <a:ext cx="2996858" cy="4955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dirty="0">
                  <a:solidFill>
                    <a:schemeClr val="bg1"/>
                  </a:solidFill>
                  <a:latin typeface="DM Sans" pitchFamily="2" charset="0"/>
                </a:endParaRPr>
              </a:p>
              <a:p>
                <a:pPr algn="ctr"/>
                <a:r>
                  <a:rPr lang="en-US" sz="15000" b="1" dirty="0">
                    <a:solidFill>
                      <a:schemeClr val="bg1"/>
                    </a:solidFill>
                    <a:latin typeface="DM Sans" pitchFamily="2" charset="0"/>
                  </a:rPr>
                  <a:t>3</a:t>
                </a:r>
                <a:endParaRPr lang="en-US" sz="1050" b="1" dirty="0">
                  <a:solidFill>
                    <a:schemeClr val="bg1"/>
                  </a:solidFill>
                  <a:latin typeface="DM Sans" pitchFamily="2" charset="0"/>
                </a:endParaRPr>
              </a:p>
              <a:p>
                <a:pPr algn="ctr"/>
                <a:endParaRPr lang="en-US" sz="300" b="1" dirty="0">
                  <a:solidFill>
                    <a:schemeClr val="bg1"/>
                  </a:solidFill>
                  <a:latin typeface="DM Sans" pitchFamily="2" charset="0"/>
                </a:endParaRPr>
              </a:p>
              <a:p>
                <a:pPr algn="ctr"/>
                <a:endParaRPr lang="en-US" sz="1400" b="1" dirty="0">
                  <a:solidFill>
                    <a:schemeClr val="bg1"/>
                  </a:solidFill>
                  <a:latin typeface="DM Sans" pitchFamily="2" charset="0"/>
                </a:endParaRPr>
              </a:p>
              <a:p>
                <a:pPr algn="ctr"/>
                <a:r>
                  <a:rPr lang="en-US" sz="3200" b="1" dirty="0">
                    <a:solidFill>
                      <a:schemeClr val="bg1"/>
                    </a:solidFill>
                    <a:latin typeface="DM Sans" pitchFamily="2" charset="0"/>
                  </a:rPr>
                  <a:t>C</a:t>
                </a:r>
                <a:r>
                  <a:rPr lang="en-US" sz="2400" b="1" dirty="0">
                    <a:solidFill>
                      <a:schemeClr val="bg1"/>
                    </a:solidFill>
                    <a:latin typeface="DM Sans" pitchFamily="2" charset="0"/>
                  </a:rPr>
                  <a:t>hat Box</a:t>
                </a:r>
                <a:endParaRPr lang="en-US" sz="2400" dirty="0">
                  <a:solidFill>
                    <a:schemeClr val="bg1"/>
                  </a:solidFill>
                  <a:latin typeface="DM Sans" pitchFamily="2" charset="0"/>
                </a:endParaRPr>
              </a:p>
              <a:p>
                <a:pPr algn="ctr"/>
                <a:r>
                  <a:rPr lang="en-US" dirty="0">
                    <a:solidFill>
                      <a:schemeClr val="bg1"/>
                    </a:solidFill>
                    <a:latin typeface="DM Sans" pitchFamily="2" charset="0"/>
                  </a:rPr>
                  <a:t>(Each Slot)</a:t>
                </a:r>
                <a:endParaRPr lang="en-IN" dirty="0">
                  <a:solidFill>
                    <a:schemeClr val="bg1"/>
                  </a:solidFill>
                  <a:latin typeface="DM Sans" pitchFamily="2" charset="0"/>
                </a:endParaRPr>
              </a:p>
              <a:p>
                <a:pPr algn="ctr"/>
                <a:endParaRPr lang="en-US" dirty="0">
                  <a:solidFill>
                    <a:schemeClr val="bg1"/>
                  </a:solidFill>
                  <a:latin typeface="DM Sans" pitchFamily="2" charset="0"/>
                </a:endParaRPr>
              </a:p>
              <a:p>
                <a:pPr algn="ctr"/>
                <a:endParaRPr lang="en-US" sz="100" dirty="0">
                  <a:solidFill>
                    <a:schemeClr val="bg1"/>
                  </a:solidFill>
                  <a:latin typeface="DM Sans" pitchFamily="2" charset="0"/>
                </a:endParaRPr>
              </a:p>
              <a:p>
                <a:pPr algn="ctr"/>
                <a:r>
                  <a:rPr lang="en-US" dirty="0">
                    <a:solidFill>
                      <a:schemeClr val="bg1"/>
                    </a:solidFill>
                    <a:latin typeface="DM Sans" pitchFamily="2" charset="0"/>
                  </a:rPr>
                  <a:t>Fast  doubt</a:t>
                </a:r>
              </a:p>
              <a:p>
                <a:pPr algn="ctr"/>
                <a:r>
                  <a:rPr lang="en-US" dirty="0">
                    <a:solidFill>
                      <a:schemeClr val="bg1"/>
                    </a:solidFill>
                    <a:latin typeface="DM Sans" pitchFamily="2" charset="0"/>
                  </a:rPr>
                  <a:t> solving Removes communication gap</a:t>
                </a:r>
                <a:endParaRPr lang="en-IN" dirty="0">
                  <a:solidFill>
                    <a:schemeClr val="bg1"/>
                  </a:solidFill>
                  <a:latin typeface="DM Sans" pitchFamily="2" charset="0"/>
                </a:endParaRPr>
              </a:p>
            </p:txBody>
          </p:sp>
          <p:sp>
            <p:nvSpPr>
              <p:cNvPr id="34" name="Isosceles Triangle 33">
                <a:extLst>
                  <a:ext uri="{FF2B5EF4-FFF2-40B4-BE49-F238E27FC236}">
                    <a16:creationId xmlns:a16="http://schemas.microsoft.com/office/drawing/2014/main" id="{5C94A0E6-1799-68F2-B9FA-A9D9FF65207A}"/>
                  </a:ext>
                </a:extLst>
              </p:cNvPr>
              <p:cNvSpPr/>
              <p:nvPr/>
            </p:nvSpPr>
            <p:spPr>
              <a:xfrm rot="5400000">
                <a:off x="9106029" y="1530183"/>
                <a:ext cx="905888" cy="443187"/>
              </a:xfrm>
              <a:prstGeom prst="triangle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45B71E7-BFBD-B58A-2F46-BC1766F21A2F}"/>
              </a:ext>
            </a:extLst>
          </p:cNvPr>
          <p:cNvGrpSpPr/>
          <p:nvPr/>
        </p:nvGrpSpPr>
        <p:grpSpPr>
          <a:xfrm>
            <a:off x="265752" y="0"/>
            <a:ext cx="3605316" cy="6858000"/>
            <a:chOff x="3152424" y="0"/>
            <a:chExt cx="3605316" cy="685800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2CAD8F2-3AEE-4A48-B606-89EA3C619BD0}"/>
                </a:ext>
              </a:extLst>
            </p:cNvPr>
            <p:cNvSpPr/>
            <p:nvPr/>
          </p:nvSpPr>
          <p:spPr>
            <a:xfrm>
              <a:off x="3164953" y="0"/>
              <a:ext cx="3187841" cy="6858000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F36FDA0-CAC5-26FD-A54D-E4872A4191F9}"/>
                </a:ext>
              </a:extLst>
            </p:cNvPr>
            <p:cNvSpPr txBox="1"/>
            <p:nvPr/>
          </p:nvSpPr>
          <p:spPr>
            <a:xfrm>
              <a:off x="3152424" y="371670"/>
              <a:ext cx="3032533" cy="52322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dirty="0">
                <a:solidFill>
                  <a:schemeClr val="bg1"/>
                </a:solidFill>
                <a:latin typeface="DM Sans" pitchFamily="2" charset="0"/>
              </a:endParaRPr>
            </a:p>
            <a:p>
              <a:pPr algn="ctr"/>
              <a:r>
                <a:rPr lang="en-US" dirty="0">
                  <a:solidFill>
                    <a:schemeClr val="bg1"/>
                  </a:solidFill>
                  <a:latin typeface="DM Sans" pitchFamily="2" charset="0"/>
                </a:rPr>
                <a:t> </a:t>
              </a:r>
              <a:r>
                <a:rPr lang="en-US" b="1" dirty="0">
                  <a:solidFill>
                    <a:schemeClr val="bg1"/>
                  </a:solidFill>
                  <a:latin typeface="DM Sans" pitchFamily="2" charset="0"/>
                </a:rPr>
                <a:t> </a:t>
              </a:r>
              <a:r>
                <a:rPr lang="en-US" sz="15000" b="1" dirty="0">
                  <a:solidFill>
                    <a:schemeClr val="bg1"/>
                  </a:solidFill>
                  <a:latin typeface="DM Sans" pitchFamily="2" charset="0"/>
                </a:rPr>
                <a:t>2</a:t>
              </a:r>
              <a:endParaRPr lang="en-US" sz="2400" b="1" dirty="0">
                <a:solidFill>
                  <a:schemeClr val="bg1"/>
                </a:solidFill>
                <a:latin typeface="DM Sans" pitchFamily="2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en-US" sz="3200" b="1" dirty="0">
                  <a:solidFill>
                    <a:schemeClr val="bg1"/>
                  </a:solidFill>
                  <a:latin typeface="DM Sans" pitchFamily="2" charset="0"/>
                </a:rPr>
                <a:t>E</a:t>
              </a:r>
              <a:r>
                <a:rPr lang="en-US" sz="2400" b="1" dirty="0">
                  <a:solidFill>
                    <a:schemeClr val="bg1"/>
                  </a:solidFill>
                  <a:latin typeface="DM Sans" pitchFamily="2" charset="0"/>
                </a:rPr>
                <a:t>mployee Score</a:t>
              </a:r>
              <a:endParaRPr lang="en-US" sz="2400" dirty="0">
                <a:solidFill>
                  <a:schemeClr val="bg1"/>
                </a:solidFill>
                <a:latin typeface="DM Sans" pitchFamily="2" charset="0"/>
              </a:endParaRPr>
            </a:p>
            <a:p>
              <a:pPr algn="ctr"/>
              <a:r>
                <a:rPr lang="en-US" dirty="0">
                  <a:solidFill>
                    <a:schemeClr val="bg1"/>
                  </a:solidFill>
                  <a:latin typeface="DM Sans" pitchFamily="2" charset="0"/>
                </a:rPr>
                <a:t>(Gamified Performance)</a:t>
              </a:r>
              <a:endParaRPr lang="en-US" sz="100" dirty="0">
                <a:solidFill>
                  <a:schemeClr val="bg1"/>
                </a:solidFill>
                <a:latin typeface="DM Sans" pitchFamily="2" charset="0"/>
              </a:endParaRPr>
            </a:p>
            <a:p>
              <a:pPr algn="ctr"/>
              <a:endParaRPr lang="en-US" sz="100" dirty="0">
                <a:solidFill>
                  <a:schemeClr val="bg1"/>
                </a:solidFill>
                <a:latin typeface="DM Sans" pitchFamily="2" charset="0"/>
              </a:endParaRPr>
            </a:p>
            <a:p>
              <a:pPr algn="ctr"/>
              <a:endParaRPr lang="en-US" sz="1400" dirty="0">
                <a:solidFill>
                  <a:schemeClr val="bg1"/>
                </a:solidFill>
                <a:latin typeface="DM Sans" pitchFamily="2" charset="0"/>
              </a:endParaRPr>
            </a:p>
            <a:p>
              <a:pPr algn="ctr"/>
              <a:r>
                <a:rPr lang="en-US" dirty="0">
                  <a:solidFill>
                    <a:schemeClr val="bg1"/>
                  </a:solidFill>
                  <a:latin typeface="DM Sans" pitchFamily="2" charset="0"/>
                </a:rPr>
                <a:t>Do work on 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  <a:latin typeface="DM Sans" pitchFamily="2" charset="0"/>
                </a:rPr>
                <a:t>time → score increases Encourages consistency and productivity</a:t>
              </a:r>
              <a:endParaRPr lang="en-IN" dirty="0">
                <a:solidFill>
                  <a:schemeClr val="bg1"/>
                </a:solidFill>
                <a:latin typeface="DM Sans" pitchFamily="2" charset="0"/>
              </a:endParaRPr>
            </a:p>
          </p:txBody>
        </p:sp>
        <p:sp>
          <p:nvSpPr>
            <p:cNvPr id="38" name="Isosceles Triangle 37">
              <a:extLst>
                <a:ext uri="{FF2B5EF4-FFF2-40B4-BE49-F238E27FC236}">
                  <a16:creationId xmlns:a16="http://schemas.microsoft.com/office/drawing/2014/main" id="{42E4B97E-1011-DFE9-E647-3EA87C08C408}"/>
                </a:ext>
              </a:extLst>
            </p:cNvPr>
            <p:cNvSpPr/>
            <p:nvPr/>
          </p:nvSpPr>
          <p:spPr>
            <a:xfrm rot="5400000">
              <a:off x="6083203" y="1530183"/>
              <a:ext cx="905888" cy="443187"/>
            </a:xfrm>
            <a:prstGeom prst="triangl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61E5622-9F52-9BC1-66B3-AA5FF51C2327}"/>
              </a:ext>
            </a:extLst>
          </p:cNvPr>
          <p:cNvGrpSpPr/>
          <p:nvPr/>
        </p:nvGrpSpPr>
        <p:grpSpPr>
          <a:xfrm>
            <a:off x="0" y="0"/>
            <a:ext cx="3609607" cy="6858000"/>
            <a:chOff x="0" y="0"/>
            <a:chExt cx="3609607" cy="685800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5A625C8D-592E-E4E1-48DA-133D5502B864}"/>
                </a:ext>
              </a:extLst>
            </p:cNvPr>
            <p:cNvSpPr/>
            <p:nvPr/>
          </p:nvSpPr>
          <p:spPr>
            <a:xfrm>
              <a:off x="0" y="0"/>
              <a:ext cx="3180137" cy="68580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4EA9AAB-ED0A-7D5B-E6D6-EEB77C08EA20}"/>
                </a:ext>
              </a:extLst>
            </p:cNvPr>
            <p:cNvSpPr txBox="1"/>
            <p:nvPr/>
          </p:nvSpPr>
          <p:spPr>
            <a:xfrm>
              <a:off x="134649" y="644524"/>
              <a:ext cx="2839777" cy="47397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0" b="1" dirty="0">
                  <a:solidFill>
                    <a:schemeClr val="bg1"/>
                  </a:solidFill>
                  <a:latin typeface="DM Sans" pitchFamily="2" charset="0"/>
                </a:rPr>
                <a:t>1</a:t>
              </a:r>
              <a:endParaRPr lang="en-US" sz="2000" b="1" dirty="0">
                <a:solidFill>
                  <a:schemeClr val="bg1"/>
                </a:solidFill>
                <a:latin typeface="DM Sans" pitchFamily="2" charset="0"/>
              </a:endParaRPr>
            </a:p>
            <a:p>
              <a:pPr algn="ctr"/>
              <a:endParaRPr lang="en-IN" sz="2000" b="1" dirty="0">
                <a:solidFill>
                  <a:schemeClr val="bg1"/>
                </a:solidFill>
                <a:latin typeface="DM Sans" pitchFamily="2" charset="0"/>
              </a:endParaRPr>
            </a:p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DM Sans" pitchFamily="2" charset="0"/>
                </a:rPr>
                <a:t>Deadline Timer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  <a:latin typeface="DM Sans" pitchFamily="2" charset="0"/>
                </a:rPr>
                <a:t>(Auto Start)</a:t>
              </a:r>
            </a:p>
            <a:p>
              <a:pPr algn="ctr"/>
              <a:endParaRPr lang="en-US" dirty="0">
                <a:solidFill>
                  <a:schemeClr val="bg1"/>
                </a:solidFill>
                <a:latin typeface="DM Sans" pitchFamily="2" charset="0"/>
              </a:endParaRPr>
            </a:p>
            <a:p>
              <a:pPr algn="ctr"/>
              <a:r>
                <a:rPr lang="en-US" dirty="0">
                  <a:solidFill>
                    <a:schemeClr val="bg1"/>
                  </a:solidFill>
                  <a:latin typeface="DM Sans" pitchFamily="2" charset="0"/>
                </a:rPr>
                <a:t>Timer begins the moment a slot arrives. Reminders + pop-ups keep users on track</a:t>
              </a:r>
              <a:endParaRPr lang="en-IN" dirty="0">
                <a:solidFill>
                  <a:schemeClr val="bg1"/>
                </a:solidFill>
                <a:latin typeface="DM Sans" pitchFamily="2" charset="0"/>
              </a:endParaRPr>
            </a:p>
          </p:txBody>
        </p:sp>
        <p:sp>
          <p:nvSpPr>
            <p:cNvPr id="42" name="Isosceles Triangle 41">
              <a:extLst>
                <a:ext uri="{FF2B5EF4-FFF2-40B4-BE49-F238E27FC236}">
                  <a16:creationId xmlns:a16="http://schemas.microsoft.com/office/drawing/2014/main" id="{627B2F96-1B0C-4D38-9D47-0FD52F90700F}"/>
                </a:ext>
              </a:extLst>
            </p:cNvPr>
            <p:cNvSpPr/>
            <p:nvPr/>
          </p:nvSpPr>
          <p:spPr>
            <a:xfrm rot="5400000">
              <a:off x="2935070" y="1530183"/>
              <a:ext cx="905888" cy="443187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E04A6D8-D96C-A5F1-5040-81554ED840B0}"/>
              </a:ext>
            </a:extLst>
          </p:cNvPr>
          <p:cNvSpPr txBox="1"/>
          <p:nvPr/>
        </p:nvSpPr>
        <p:spPr>
          <a:xfrm>
            <a:off x="4966998" y="2601082"/>
            <a:ext cx="658984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FEATURES</a:t>
            </a:r>
          </a:p>
        </p:txBody>
      </p:sp>
    </p:spTree>
    <p:extLst>
      <p:ext uri="{BB962C8B-B14F-4D97-AF65-F5344CB8AC3E}">
        <p14:creationId xmlns:p14="http://schemas.microsoft.com/office/powerpoint/2010/main" val="1828857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7989B-7EA3-1E50-6195-D35C7554A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BEB59412-5879-9008-B646-1A007625C676}"/>
              </a:ext>
            </a:extLst>
          </p:cNvPr>
          <p:cNvGrpSpPr/>
          <p:nvPr/>
        </p:nvGrpSpPr>
        <p:grpSpPr>
          <a:xfrm>
            <a:off x="9337380" y="0"/>
            <a:ext cx="3283723" cy="6858000"/>
            <a:chOff x="9337380" y="0"/>
            <a:chExt cx="3283723" cy="6858000"/>
          </a:xfrm>
        </p:grpSpPr>
        <p:sp>
          <p:nvSpPr>
            <p:cNvPr id="26" name="Isosceles Triangle 25">
              <a:extLst>
                <a:ext uri="{FF2B5EF4-FFF2-40B4-BE49-F238E27FC236}">
                  <a16:creationId xmlns:a16="http://schemas.microsoft.com/office/drawing/2014/main" id="{50561F03-85C9-92AB-E7D9-B560A715BE48}"/>
                </a:ext>
              </a:extLst>
            </p:cNvPr>
            <p:cNvSpPr/>
            <p:nvPr/>
          </p:nvSpPr>
          <p:spPr>
            <a:xfrm rot="5400000">
              <a:off x="11946566" y="1530184"/>
              <a:ext cx="905888" cy="443187"/>
            </a:xfrm>
            <a:prstGeom prst="triangl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E47DC387-4140-CD94-BE59-D828A2BD048C}"/>
                </a:ext>
              </a:extLst>
            </p:cNvPr>
            <p:cNvGrpSpPr/>
            <p:nvPr/>
          </p:nvGrpSpPr>
          <p:grpSpPr>
            <a:xfrm>
              <a:off x="9337380" y="0"/>
              <a:ext cx="2854619" cy="6858000"/>
              <a:chOff x="9337380" y="0"/>
              <a:chExt cx="2854619" cy="685800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E1DEE61C-6F24-878D-3CA7-16E65D5AA561}"/>
                  </a:ext>
                </a:extLst>
              </p:cNvPr>
              <p:cNvSpPr/>
              <p:nvPr/>
            </p:nvSpPr>
            <p:spPr>
              <a:xfrm>
                <a:off x="9337380" y="0"/>
                <a:ext cx="2854619" cy="685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C274A62-946D-5C81-06B2-DDE55D380988}"/>
                  </a:ext>
                </a:extLst>
              </p:cNvPr>
              <p:cNvSpPr txBox="1"/>
              <p:nvPr/>
            </p:nvSpPr>
            <p:spPr>
              <a:xfrm>
                <a:off x="9420689" y="643035"/>
                <a:ext cx="2662034" cy="46628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5000" b="1" dirty="0">
                    <a:solidFill>
                      <a:schemeClr val="bg1"/>
                    </a:solidFill>
                    <a:latin typeface="DM Sans" pitchFamily="2" charset="0"/>
                  </a:rPr>
                  <a:t>4</a:t>
                </a:r>
                <a:endParaRPr lang="en-US" sz="2000" b="1" dirty="0">
                  <a:solidFill>
                    <a:schemeClr val="bg1"/>
                  </a:solidFill>
                  <a:latin typeface="DM Sans" pitchFamily="2" charset="0"/>
                </a:endParaRPr>
              </a:p>
              <a:p>
                <a:pPr algn="ctr"/>
                <a:endParaRPr lang="en-US" b="1" dirty="0">
                  <a:solidFill>
                    <a:schemeClr val="bg1"/>
                  </a:solidFill>
                  <a:latin typeface="DM Sans" pitchFamily="2" charset="0"/>
                </a:endParaRPr>
              </a:p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DM Sans" pitchFamily="2" charset="0"/>
                  </a:rPr>
                  <a:t>S</a:t>
                </a:r>
                <a:r>
                  <a:rPr lang="en-US" sz="2400" b="1" dirty="0">
                    <a:solidFill>
                      <a:schemeClr val="bg1"/>
                    </a:solidFill>
                    <a:latin typeface="DM Sans" pitchFamily="2" charset="0"/>
                  </a:rPr>
                  <a:t>ubmission</a:t>
                </a:r>
                <a:endParaRPr lang="en-US" sz="2400" dirty="0">
                  <a:solidFill>
                    <a:schemeClr val="bg1"/>
                  </a:solidFill>
                  <a:latin typeface="DM Sans" pitchFamily="2" charset="0"/>
                </a:endParaRPr>
              </a:p>
              <a:p>
                <a:pPr algn="ctr"/>
                <a:r>
                  <a:rPr lang="en-US" dirty="0">
                    <a:solidFill>
                      <a:schemeClr val="bg1"/>
                    </a:solidFill>
                    <a:latin typeface="DM Sans" pitchFamily="2" charset="0"/>
                  </a:rPr>
                  <a:t>(File/Report)</a:t>
                </a:r>
              </a:p>
              <a:p>
                <a:pPr algn="ctr"/>
                <a:endParaRPr lang="en-US" sz="100" dirty="0">
                  <a:solidFill>
                    <a:schemeClr val="bg1"/>
                  </a:solidFill>
                  <a:latin typeface="DM Sans" pitchFamily="2" charset="0"/>
                </a:endParaRPr>
              </a:p>
              <a:p>
                <a:pPr algn="ctr"/>
                <a:endParaRPr lang="en-US" dirty="0">
                  <a:solidFill>
                    <a:schemeClr val="bg1"/>
                  </a:solidFill>
                  <a:latin typeface="DM Sans" pitchFamily="2" charset="0"/>
                </a:endParaRPr>
              </a:p>
              <a:p>
                <a:pPr algn="ctr"/>
                <a:r>
                  <a:rPr lang="en-US" dirty="0">
                    <a:solidFill>
                      <a:schemeClr val="bg1"/>
                    </a:solidFill>
                    <a:latin typeface="DM Sans" pitchFamily="2" charset="0"/>
                  </a:rPr>
                  <a:t>One place for task + discussion + submission</a:t>
                </a:r>
                <a:endParaRPr lang="en-IN" dirty="0">
                  <a:solidFill>
                    <a:schemeClr val="bg1"/>
                  </a:solidFill>
                  <a:latin typeface="DM Sans" pitchFamily="2" charset="0"/>
                </a:endParaRPr>
              </a:p>
            </p:txBody>
          </p: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DD13477-5E1F-3E8F-167E-F061F8A29B77}"/>
              </a:ext>
            </a:extLst>
          </p:cNvPr>
          <p:cNvGrpSpPr/>
          <p:nvPr/>
        </p:nvGrpSpPr>
        <p:grpSpPr>
          <a:xfrm>
            <a:off x="6314554" y="0"/>
            <a:ext cx="3466012" cy="6858000"/>
            <a:chOff x="6314554" y="0"/>
            <a:chExt cx="3466012" cy="6858000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D986A0B-6C91-AF04-5756-B06652CAFEA0}"/>
                </a:ext>
              </a:extLst>
            </p:cNvPr>
            <p:cNvSpPr/>
            <p:nvPr/>
          </p:nvSpPr>
          <p:spPr>
            <a:xfrm>
              <a:off x="6314554" y="0"/>
              <a:ext cx="3032532" cy="6858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21F8DEC8-3961-5D2A-4A7F-1EFDA55DAF4B}"/>
                </a:ext>
              </a:extLst>
            </p:cNvPr>
            <p:cNvGrpSpPr/>
            <p:nvPr/>
          </p:nvGrpSpPr>
          <p:grpSpPr>
            <a:xfrm>
              <a:off x="6329908" y="349884"/>
              <a:ext cx="3450658" cy="4955203"/>
              <a:chOff x="6329908" y="349884"/>
              <a:chExt cx="3450658" cy="4955203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0C37B97-CF45-7F76-7510-9DB6F4F5CEDC}"/>
                  </a:ext>
                </a:extLst>
              </p:cNvPr>
              <p:cNvSpPr txBox="1"/>
              <p:nvPr/>
            </p:nvSpPr>
            <p:spPr>
              <a:xfrm>
                <a:off x="6329908" y="349884"/>
                <a:ext cx="2996858" cy="4955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dirty="0">
                  <a:solidFill>
                    <a:schemeClr val="bg1"/>
                  </a:solidFill>
                  <a:latin typeface="DM Sans" pitchFamily="2" charset="0"/>
                </a:endParaRPr>
              </a:p>
              <a:p>
                <a:pPr algn="ctr"/>
                <a:r>
                  <a:rPr lang="en-US" sz="15000" b="1" dirty="0">
                    <a:solidFill>
                      <a:schemeClr val="bg1"/>
                    </a:solidFill>
                    <a:latin typeface="DM Sans" pitchFamily="2" charset="0"/>
                  </a:rPr>
                  <a:t>3</a:t>
                </a:r>
                <a:endParaRPr lang="en-US" sz="1050" b="1" dirty="0">
                  <a:solidFill>
                    <a:schemeClr val="bg1"/>
                  </a:solidFill>
                  <a:latin typeface="DM Sans" pitchFamily="2" charset="0"/>
                </a:endParaRPr>
              </a:p>
              <a:p>
                <a:pPr algn="ctr"/>
                <a:endParaRPr lang="en-US" sz="300" b="1" dirty="0">
                  <a:solidFill>
                    <a:schemeClr val="bg1"/>
                  </a:solidFill>
                  <a:latin typeface="DM Sans" pitchFamily="2" charset="0"/>
                </a:endParaRPr>
              </a:p>
              <a:p>
                <a:pPr algn="ctr"/>
                <a:endParaRPr lang="en-US" sz="1400" b="1" dirty="0">
                  <a:solidFill>
                    <a:schemeClr val="bg1"/>
                  </a:solidFill>
                  <a:latin typeface="DM Sans" pitchFamily="2" charset="0"/>
                </a:endParaRPr>
              </a:p>
              <a:p>
                <a:pPr algn="ctr"/>
                <a:r>
                  <a:rPr lang="en-US" sz="3200" b="1" dirty="0">
                    <a:solidFill>
                      <a:schemeClr val="bg1"/>
                    </a:solidFill>
                    <a:latin typeface="DM Sans" pitchFamily="2" charset="0"/>
                  </a:rPr>
                  <a:t>C</a:t>
                </a:r>
                <a:r>
                  <a:rPr lang="en-US" sz="2400" b="1" dirty="0">
                    <a:solidFill>
                      <a:schemeClr val="bg1"/>
                    </a:solidFill>
                    <a:latin typeface="DM Sans" pitchFamily="2" charset="0"/>
                  </a:rPr>
                  <a:t>hat Box</a:t>
                </a:r>
                <a:endParaRPr lang="en-US" sz="2400" dirty="0">
                  <a:solidFill>
                    <a:schemeClr val="bg1"/>
                  </a:solidFill>
                  <a:latin typeface="DM Sans" pitchFamily="2" charset="0"/>
                </a:endParaRPr>
              </a:p>
              <a:p>
                <a:pPr algn="ctr"/>
                <a:r>
                  <a:rPr lang="en-US" dirty="0">
                    <a:solidFill>
                      <a:schemeClr val="bg1"/>
                    </a:solidFill>
                    <a:latin typeface="DM Sans" pitchFamily="2" charset="0"/>
                  </a:rPr>
                  <a:t>(Each Slot)</a:t>
                </a:r>
                <a:endParaRPr lang="en-IN" dirty="0">
                  <a:solidFill>
                    <a:schemeClr val="bg1"/>
                  </a:solidFill>
                  <a:latin typeface="DM Sans" pitchFamily="2" charset="0"/>
                </a:endParaRPr>
              </a:p>
              <a:p>
                <a:pPr algn="ctr"/>
                <a:endParaRPr lang="en-US" dirty="0">
                  <a:solidFill>
                    <a:schemeClr val="bg1"/>
                  </a:solidFill>
                  <a:latin typeface="DM Sans" pitchFamily="2" charset="0"/>
                </a:endParaRPr>
              </a:p>
              <a:p>
                <a:pPr algn="ctr"/>
                <a:endParaRPr lang="en-US" sz="100" dirty="0">
                  <a:solidFill>
                    <a:schemeClr val="bg1"/>
                  </a:solidFill>
                  <a:latin typeface="DM Sans" pitchFamily="2" charset="0"/>
                </a:endParaRPr>
              </a:p>
              <a:p>
                <a:pPr algn="ctr"/>
                <a:r>
                  <a:rPr lang="en-US" dirty="0">
                    <a:solidFill>
                      <a:schemeClr val="bg1"/>
                    </a:solidFill>
                    <a:latin typeface="DM Sans" pitchFamily="2" charset="0"/>
                  </a:rPr>
                  <a:t>Fast  doubt</a:t>
                </a:r>
              </a:p>
              <a:p>
                <a:pPr algn="ctr"/>
                <a:r>
                  <a:rPr lang="en-US" dirty="0">
                    <a:solidFill>
                      <a:schemeClr val="bg1"/>
                    </a:solidFill>
                    <a:latin typeface="DM Sans" pitchFamily="2" charset="0"/>
                  </a:rPr>
                  <a:t> solving Removes communication gap</a:t>
                </a:r>
                <a:endParaRPr lang="en-IN" dirty="0">
                  <a:solidFill>
                    <a:schemeClr val="bg1"/>
                  </a:solidFill>
                  <a:latin typeface="DM Sans" pitchFamily="2" charset="0"/>
                </a:endParaRPr>
              </a:p>
            </p:txBody>
          </p:sp>
          <p:sp>
            <p:nvSpPr>
              <p:cNvPr id="34" name="Isosceles Triangle 33">
                <a:extLst>
                  <a:ext uri="{FF2B5EF4-FFF2-40B4-BE49-F238E27FC236}">
                    <a16:creationId xmlns:a16="http://schemas.microsoft.com/office/drawing/2014/main" id="{469AC550-20B1-466A-ECE1-5E5C5A09A4F7}"/>
                  </a:ext>
                </a:extLst>
              </p:cNvPr>
              <p:cNvSpPr/>
              <p:nvPr/>
            </p:nvSpPr>
            <p:spPr>
              <a:xfrm rot="5400000">
                <a:off x="9106029" y="1530183"/>
                <a:ext cx="905888" cy="443187"/>
              </a:xfrm>
              <a:prstGeom prst="triangle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F37F6BC-BACB-3620-6DB0-D6573D0122F6}"/>
              </a:ext>
            </a:extLst>
          </p:cNvPr>
          <p:cNvGrpSpPr/>
          <p:nvPr/>
        </p:nvGrpSpPr>
        <p:grpSpPr>
          <a:xfrm>
            <a:off x="3159423" y="0"/>
            <a:ext cx="3605316" cy="6858000"/>
            <a:chOff x="3152424" y="0"/>
            <a:chExt cx="3605316" cy="685800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C6CDF602-4FDC-AAB7-050F-BEEB0F0F31F5}"/>
                </a:ext>
              </a:extLst>
            </p:cNvPr>
            <p:cNvSpPr/>
            <p:nvPr/>
          </p:nvSpPr>
          <p:spPr>
            <a:xfrm>
              <a:off x="3164953" y="0"/>
              <a:ext cx="3187841" cy="6858000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7A1FB89-17B8-9ECA-24F8-5278D7A36355}"/>
                </a:ext>
              </a:extLst>
            </p:cNvPr>
            <p:cNvSpPr txBox="1"/>
            <p:nvPr/>
          </p:nvSpPr>
          <p:spPr>
            <a:xfrm>
              <a:off x="3152424" y="371670"/>
              <a:ext cx="3032533" cy="52322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dirty="0">
                <a:solidFill>
                  <a:schemeClr val="bg1"/>
                </a:solidFill>
                <a:latin typeface="DM Sans" pitchFamily="2" charset="0"/>
              </a:endParaRPr>
            </a:p>
            <a:p>
              <a:pPr algn="ctr"/>
              <a:r>
                <a:rPr lang="en-US" dirty="0">
                  <a:solidFill>
                    <a:schemeClr val="bg1"/>
                  </a:solidFill>
                  <a:latin typeface="DM Sans" pitchFamily="2" charset="0"/>
                </a:rPr>
                <a:t> </a:t>
              </a:r>
              <a:r>
                <a:rPr lang="en-US" b="1" dirty="0">
                  <a:solidFill>
                    <a:schemeClr val="bg1"/>
                  </a:solidFill>
                  <a:latin typeface="DM Sans" pitchFamily="2" charset="0"/>
                </a:rPr>
                <a:t> </a:t>
              </a:r>
              <a:r>
                <a:rPr lang="en-US" sz="15000" b="1" dirty="0">
                  <a:solidFill>
                    <a:schemeClr val="bg1"/>
                  </a:solidFill>
                  <a:latin typeface="DM Sans" pitchFamily="2" charset="0"/>
                </a:rPr>
                <a:t>2</a:t>
              </a:r>
              <a:endParaRPr lang="en-US" sz="2400" b="1" dirty="0">
                <a:solidFill>
                  <a:schemeClr val="bg1"/>
                </a:solidFill>
                <a:latin typeface="DM Sans" pitchFamily="2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en-US" sz="3200" b="1" dirty="0">
                  <a:solidFill>
                    <a:schemeClr val="bg1"/>
                  </a:solidFill>
                  <a:latin typeface="DM Sans" pitchFamily="2" charset="0"/>
                </a:rPr>
                <a:t>E</a:t>
              </a:r>
              <a:r>
                <a:rPr lang="en-US" sz="2400" b="1" dirty="0">
                  <a:solidFill>
                    <a:schemeClr val="bg1"/>
                  </a:solidFill>
                  <a:latin typeface="DM Sans" pitchFamily="2" charset="0"/>
                </a:rPr>
                <a:t>mployee Score</a:t>
              </a:r>
              <a:endParaRPr lang="en-US" sz="2400" dirty="0">
                <a:solidFill>
                  <a:schemeClr val="bg1"/>
                </a:solidFill>
                <a:latin typeface="DM Sans" pitchFamily="2" charset="0"/>
              </a:endParaRPr>
            </a:p>
            <a:p>
              <a:pPr algn="ctr"/>
              <a:r>
                <a:rPr lang="en-US" dirty="0">
                  <a:solidFill>
                    <a:schemeClr val="bg1"/>
                  </a:solidFill>
                  <a:latin typeface="DM Sans" pitchFamily="2" charset="0"/>
                </a:rPr>
                <a:t>(Gamified Performance)</a:t>
              </a:r>
              <a:endParaRPr lang="en-US" sz="100" dirty="0">
                <a:solidFill>
                  <a:schemeClr val="bg1"/>
                </a:solidFill>
                <a:latin typeface="DM Sans" pitchFamily="2" charset="0"/>
              </a:endParaRPr>
            </a:p>
            <a:p>
              <a:pPr algn="ctr"/>
              <a:endParaRPr lang="en-US" sz="100" dirty="0">
                <a:solidFill>
                  <a:schemeClr val="bg1"/>
                </a:solidFill>
                <a:latin typeface="DM Sans" pitchFamily="2" charset="0"/>
              </a:endParaRPr>
            </a:p>
            <a:p>
              <a:pPr algn="ctr"/>
              <a:endParaRPr lang="en-US" sz="1400" dirty="0">
                <a:solidFill>
                  <a:schemeClr val="bg1"/>
                </a:solidFill>
                <a:latin typeface="DM Sans" pitchFamily="2" charset="0"/>
              </a:endParaRPr>
            </a:p>
            <a:p>
              <a:pPr algn="ctr"/>
              <a:r>
                <a:rPr lang="en-US" dirty="0">
                  <a:solidFill>
                    <a:schemeClr val="bg1"/>
                  </a:solidFill>
                  <a:latin typeface="DM Sans" pitchFamily="2" charset="0"/>
                </a:rPr>
                <a:t>Do work on 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  <a:latin typeface="DM Sans" pitchFamily="2" charset="0"/>
                </a:rPr>
                <a:t>time → score increases Encourages consistency and productivity</a:t>
              </a:r>
              <a:endParaRPr lang="en-IN" dirty="0">
                <a:solidFill>
                  <a:schemeClr val="bg1"/>
                </a:solidFill>
                <a:latin typeface="DM Sans" pitchFamily="2" charset="0"/>
              </a:endParaRPr>
            </a:p>
          </p:txBody>
        </p:sp>
        <p:sp>
          <p:nvSpPr>
            <p:cNvPr id="38" name="Isosceles Triangle 37">
              <a:extLst>
                <a:ext uri="{FF2B5EF4-FFF2-40B4-BE49-F238E27FC236}">
                  <a16:creationId xmlns:a16="http://schemas.microsoft.com/office/drawing/2014/main" id="{59DABEE3-F0DE-D36D-8BA0-9AD9D869E15C}"/>
                </a:ext>
              </a:extLst>
            </p:cNvPr>
            <p:cNvSpPr/>
            <p:nvPr/>
          </p:nvSpPr>
          <p:spPr>
            <a:xfrm rot="5400000">
              <a:off x="6083203" y="1530183"/>
              <a:ext cx="905888" cy="443187"/>
            </a:xfrm>
            <a:prstGeom prst="triangl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800D7C8-5965-DE8C-A6C6-FF44E784A1A9}"/>
              </a:ext>
            </a:extLst>
          </p:cNvPr>
          <p:cNvGrpSpPr/>
          <p:nvPr/>
        </p:nvGrpSpPr>
        <p:grpSpPr>
          <a:xfrm>
            <a:off x="0" y="0"/>
            <a:ext cx="3609607" cy="6858000"/>
            <a:chOff x="0" y="0"/>
            <a:chExt cx="3609607" cy="685800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083D5F3-8E85-C1E6-7BF4-902DB158E2C7}"/>
                </a:ext>
              </a:extLst>
            </p:cNvPr>
            <p:cNvSpPr/>
            <p:nvPr/>
          </p:nvSpPr>
          <p:spPr>
            <a:xfrm>
              <a:off x="0" y="0"/>
              <a:ext cx="3180137" cy="68580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45E866B-36CC-3297-56C8-26CB66698EED}"/>
                </a:ext>
              </a:extLst>
            </p:cNvPr>
            <p:cNvSpPr txBox="1"/>
            <p:nvPr/>
          </p:nvSpPr>
          <p:spPr>
            <a:xfrm>
              <a:off x="134649" y="644524"/>
              <a:ext cx="2839777" cy="47397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0" b="1" dirty="0">
                  <a:solidFill>
                    <a:schemeClr val="bg1"/>
                  </a:solidFill>
                  <a:latin typeface="DM Sans" pitchFamily="2" charset="0"/>
                </a:rPr>
                <a:t>1</a:t>
              </a:r>
              <a:endParaRPr lang="en-US" sz="2000" b="1" dirty="0">
                <a:solidFill>
                  <a:schemeClr val="bg1"/>
                </a:solidFill>
                <a:latin typeface="DM Sans" pitchFamily="2" charset="0"/>
              </a:endParaRPr>
            </a:p>
            <a:p>
              <a:pPr algn="ctr"/>
              <a:endParaRPr lang="en-IN" sz="2000" b="1" dirty="0">
                <a:solidFill>
                  <a:schemeClr val="bg1"/>
                </a:solidFill>
                <a:latin typeface="DM Sans" pitchFamily="2" charset="0"/>
              </a:endParaRPr>
            </a:p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DM Sans" pitchFamily="2" charset="0"/>
                </a:rPr>
                <a:t>Deadline Timer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  <a:latin typeface="DM Sans" pitchFamily="2" charset="0"/>
                </a:rPr>
                <a:t>(Auto Start)</a:t>
              </a:r>
            </a:p>
            <a:p>
              <a:pPr algn="ctr"/>
              <a:endParaRPr lang="en-US" dirty="0">
                <a:solidFill>
                  <a:schemeClr val="bg1"/>
                </a:solidFill>
                <a:latin typeface="DM Sans" pitchFamily="2" charset="0"/>
              </a:endParaRPr>
            </a:p>
            <a:p>
              <a:pPr algn="ctr"/>
              <a:r>
                <a:rPr lang="en-US" dirty="0">
                  <a:solidFill>
                    <a:schemeClr val="bg1"/>
                  </a:solidFill>
                  <a:latin typeface="DM Sans" pitchFamily="2" charset="0"/>
                </a:rPr>
                <a:t>Timer begins the moment a slot arrives. Reminders + pop-ups keep users on track</a:t>
              </a:r>
              <a:endParaRPr lang="en-IN" dirty="0">
                <a:solidFill>
                  <a:schemeClr val="bg1"/>
                </a:solidFill>
                <a:latin typeface="DM Sans" pitchFamily="2" charset="0"/>
              </a:endParaRPr>
            </a:p>
          </p:txBody>
        </p:sp>
        <p:sp>
          <p:nvSpPr>
            <p:cNvPr id="42" name="Isosceles Triangle 41">
              <a:extLst>
                <a:ext uri="{FF2B5EF4-FFF2-40B4-BE49-F238E27FC236}">
                  <a16:creationId xmlns:a16="http://schemas.microsoft.com/office/drawing/2014/main" id="{DC79EC4A-01E5-4060-7754-29291B024125}"/>
                </a:ext>
              </a:extLst>
            </p:cNvPr>
            <p:cNvSpPr/>
            <p:nvPr/>
          </p:nvSpPr>
          <p:spPr>
            <a:xfrm rot="5400000">
              <a:off x="2935070" y="1530183"/>
              <a:ext cx="905888" cy="443187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18956725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56C1138-A5CC-FF5E-D7FD-400EA2AD1D7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83F5A4B-81D2-4AF0-418F-659FD77455D9}"/>
              </a:ext>
            </a:extLst>
          </p:cNvPr>
          <p:cNvGrpSpPr/>
          <p:nvPr/>
        </p:nvGrpSpPr>
        <p:grpSpPr>
          <a:xfrm>
            <a:off x="2096947" y="914403"/>
            <a:ext cx="3670068" cy="5846743"/>
            <a:chOff x="2303362" y="95491"/>
            <a:chExt cx="3565003" cy="6273478"/>
          </a:xfrm>
          <a:solidFill>
            <a:schemeClr val="bg1">
              <a:lumMod val="85000"/>
            </a:schemeClr>
          </a:solidFill>
          <a:effectLst>
            <a:outerShdw blurRad="25400" dist="12700" dir="10800000" algn="r" rotWithShape="0">
              <a:prstClr val="black">
                <a:alpha val="40000"/>
              </a:prstClr>
            </a:outerShdw>
          </a:effectLst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0355EBC-62D2-2DB5-1178-2E724DE6E030}"/>
                </a:ext>
              </a:extLst>
            </p:cNvPr>
            <p:cNvSpPr/>
            <p:nvPr/>
          </p:nvSpPr>
          <p:spPr>
            <a:xfrm>
              <a:off x="2303362" y="95491"/>
              <a:ext cx="3565003" cy="6273478"/>
            </a:xfrm>
            <a:custGeom>
              <a:avLst/>
              <a:gdLst>
                <a:gd name="connsiteX0" fmla="*/ 0 w 3970116"/>
                <a:gd name="connsiteY0" fmla="*/ 0 h 6858000"/>
                <a:gd name="connsiteX1" fmla="*/ 3970116 w 3970116"/>
                <a:gd name="connsiteY1" fmla="*/ 0 h 6858000"/>
                <a:gd name="connsiteX2" fmla="*/ 3970116 w 3970116"/>
                <a:gd name="connsiteY2" fmla="*/ 6858000 h 6858000"/>
                <a:gd name="connsiteX3" fmla="*/ 0 w 3970116"/>
                <a:gd name="connsiteY3" fmla="*/ 6858000 h 6858000"/>
                <a:gd name="connsiteX4" fmla="*/ 0 w 3970116"/>
                <a:gd name="connsiteY4" fmla="*/ 1180618 h 6858000"/>
                <a:gd name="connsiteX5" fmla="*/ 586448 w 3970116"/>
                <a:gd name="connsiteY5" fmla="*/ 1180618 h 6858000"/>
                <a:gd name="connsiteX6" fmla="*/ 706056 w 3970116"/>
                <a:gd name="connsiteY6" fmla="*/ 1061010 h 6858000"/>
                <a:gd name="connsiteX7" fmla="*/ 706056 w 3970116"/>
                <a:gd name="connsiteY7" fmla="*/ 582595 h 6858000"/>
                <a:gd name="connsiteX8" fmla="*/ 586448 w 3970116"/>
                <a:gd name="connsiteY8" fmla="*/ 462987 h 6858000"/>
                <a:gd name="connsiteX9" fmla="*/ 0 w 3970116"/>
                <a:gd name="connsiteY9" fmla="*/ 46298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70116" h="6858000">
                  <a:moveTo>
                    <a:pt x="0" y="0"/>
                  </a:moveTo>
                  <a:lnTo>
                    <a:pt x="3970116" y="0"/>
                  </a:lnTo>
                  <a:lnTo>
                    <a:pt x="3970116" y="6858000"/>
                  </a:lnTo>
                  <a:lnTo>
                    <a:pt x="0" y="6858000"/>
                  </a:lnTo>
                  <a:lnTo>
                    <a:pt x="0" y="1180618"/>
                  </a:lnTo>
                  <a:lnTo>
                    <a:pt x="586448" y="1180618"/>
                  </a:lnTo>
                  <a:cubicBezTo>
                    <a:pt x="652506" y="1180618"/>
                    <a:pt x="706056" y="1127068"/>
                    <a:pt x="706056" y="1061010"/>
                  </a:cubicBezTo>
                  <a:lnTo>
                    <a:pt x="706056" y="582595"/>
                  </a:lnTo>
                  <a:cubicBezTo>
                    <a:pt x="706056" y="516537"/>
                    <a:pt x="652506" y="462987"/>
                    <a:pt x="586448" y="462987"/>
                  </a:cubicBezTo>
                  <a:lnTo>
                    <a:pt x="0" y="462987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381000" dist="381000" dir="10800000" sx="90000" sy="90000" algn="r" rotWithShape="0">
                <a:srgbClr val="7030A0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F9F75F9-81BF-3527-17AE-933EF102A9BB}"/>
                </a:ext>
              </a:extLst>
            </p:cNvPr>
            <p:cNvSpPr txBox="1"/>
            <p:nvPr/>
          </p:nvSpPr>
          <p:spPr>
            <a:xfrm>
              <a:off x="2715677" y="2231183"/>
              <a:ext cx="2837603" cy="3393838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DM Sans" pitchFamily="2" charset="0"/>
                </a:rPr>
                <a:t>EMPLOYEE APP</a:t>
              </a:r>
            </a:p>
            <a:p>
              <a:endPara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M Sans" pitchFamily="2" charset="0"/>
              </a:endParaRP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DM Sans" pitchFamily="2" charset="0"/>
                </a:rPr>
                <a:t>Receives slots</a:t>
              </a: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DM Sans" pitchFamily="2" charset="0"/>
                </a:rPr>
                <a:t>Sees indicator lights</a:t>
              </a: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DM Sans" pitchFamily="2" charset="0"/>
                </a:rPr>
                <a:t>Submits work</a:t>
              </a: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DM Sans" pitchFamily="2" charset="0"/>
                </a:rPr>
                <a:t>Chat with manager</a:t>
              </a: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DM Sans" pitchFamily="2" charset="0"/>
                </a:rPr>
                <a:t>Gets reminders &amp; score</a:t>
              </a:r>
              <a:endParaRPr lang="en-I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DM Sans" pitchFamily="2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9590CE7-D4D5-9FDF-0AAE-1AA299C1539C}"/>
              </a:ext>
            </a:extLst>
          </p:cNvPr>
          <p:cNvGrpSpPr/>
          <p:nvPr/>
        </p:nvGrpSpPr>
        <p:grpSpPr>
          <a:xfrm>
            <a:off x="6634223" y="914403"/>
            <a:ext cx="3670068" cy="5846743"/>
            <a:chOff x="6205959" y="292261"/>
            <a:chExt cx="3565003" cy="6273478"/>
          </a:xfrm>
          <a:solidFill>
            <a:schemeClr val="bg1">
              <a:lumMod val="85000"/>
            </a:schemeClr>
          </a:solidFill>
          <a:effectLst>
            <a:outerShdw blurRad="25400" dist="12700" dir="10800000" algn="r" rotWithShape="0">
              <a:prstClr val="black">
                <a:alpha val="40000"/>
              </a:prstClr>
            </a:outerShdw>
          </a:effectLst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81D3149-5D8E-97AD-17C3-0BE04E53103F}"/>
                </a:ext>
              </a:extLst>
            </p:cNvPr>
            <p:cNvSpPr/>
            <p:nvPr/>
          </p:nvSpPr>
          <p:spPr>
            <a:xfrm>
              <a:off x="6205959" y="292261"/>
              <a:ext cx="3565003" cy="6273478"/>
            </a:xfrm>
            <a:custGeom>
              <a:avLst/>
              <a:gdLst>
                <a:gd name="connsiteX0" fmla="*/ 0 w 3970116"/>
                <a:gd name="connsiteY0" fmla="*/ 0 h 6858000"/>
                <a:gd name="connsiteX1" fmla="*/ 3970116 w 3970116"/>
                <a:gd name="connsiteY1" fmla="*/ 0 h 6858000"/>
                <a:gd name="connsiteX2" fmla="*/ 3970116 w 3970116"/>
                <a:gd name="connsiteY2" fmla="*/ 6858000 h 6858000"/>
                <a:gd name="connsiteX3" fmla="*/ 0 w 3970116"/>
                <a:gd name="connsiteY3" fmla="*/ 6858000 h 6858000"/>
                <a:gd name="connsiteX4" fmla="*/ 0 w 3970116"/>
                <a:gd name="connsiteY4" fmla="*/ 1180618 h 6858000"/>
                <a:gd name="connsiteX5" fmla="*/ 586448 w 3970116"/>
                <a:gd name="connsiteY5" fmla="*/ 1180618 h 6858000"/>
                <a:gd name="connsiteX6" fmla="*/ 706056 w 3970116"/>
                <a:gd name="connsiteY6" fmla="*/ 1061010 h 6858000"/>
                <a:gd name="connsiteX7" fmla="*/ 706056 w 3970116"/>
                <a:gd name="connsiteY7" fmla="*/ 582595 h 6858000"/>
                <a:gd name="connsiteX8" fmla="*/ 586448 w 3970116"/>
                <a:gd name="connsiteY8" fmla="*/ 462987 h 6858000"/>
                <a:gd name="connsiteX9" fmla="*/ 0 w 3970116"/>
                <a:gd name="connsiteY9" fmla="*/ 46298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70116" h="6858000">
                  <a:moveTo>
                    <a:pt x="0" y="0"/>
                  </a:moveTo>
                  <a:lnTo>
                    <a:pt x="3970116" y="0"/>
                  </a:lnTo>
                  <a:lnTo>
                    <a:pt x="3970116" y="6858000"/>
                  </a:lnTo>
                  <a:lnTo>
                    <a:pt x="0" y="6858000"/>
                  </a:lnTo>
                  <a:lnTo>
                    <a:pt x="0" y="1180618"/>
                  </a:lnTo>
                  <a:lnTo>
                    <a:pt x="586448" y="1180618"/>
                  </a:lnTo>
                  <a:cubicBezTo>
                    <a:pt x="652506" y="1180618"/>
                    <a:pt x="706056" y="1127068"/>
                    <a:pt x="706056" y="1061010"/>
                  </a:cubicBezTo>
                  <a:lnTo>
                    <a:pt x="706056" y="582595"/>
                  </a:lnTo>
                  <a:cubicBezTo>
                    <a:pt x="706056" y="516537"/>
                    <a:pt x="652506" y="462987"/>
                    <a:pt x="586448" y="462987"/>
                  </a:cubicBezTo>
                  <a:lnTo>
                    <a:pt x="0" y="462987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381000" dist="381000" dir="10800000" sx="90000" sy="90000" algn="r" rotWithShape="0">
                <a:srgbClr val="7030A0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125607E-24EF-96E2-E2A6-536848CA5F5E}"/>
                </a:ext>
              </a:extLst>
            </p:cNvPr>
            <p:cNvSpPr txBox="1"/>
            <p:nvPr/>
          </p:nvSpPr>
          <p:spPr>
            <a:xfrm>
              <a:off x="6400923" y="2452334"/>
              <a:ext cx="3370039" cy="291499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DM Sans" pitchFamily="2" charset="0"/>
                </a:rPr>
                <a:t>MANAGER APP</a:t>
              </a:r>
            </a:p>
            <a:p>
              <a:endPara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DM Sans" pitchFamily="2" charset="0"/>
              </a:endParaRPr>
            </a:p>
            <a:p>
              <a:pPr marL="531813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DM Sans" pitchFamily="2" charset="0"/>
                </a:rPr>
                <a:t>Assign slots</a:t>
              </a:r>
            </a:p>
            <a:p>
              <a:pPr marL="531813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DM Sans" pitchFamily="2" charset="0"/>
                </a:rPr>
                <a:t>Track each slot’s color (real-time)</a:t>
              </a:r>
            </a:p>
            <a:p>
              <a:pPr marL="531813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DM Sans" pitchFamily="2" charset="0"/>
                </a:rPr>
                <a:t>See employee score</a:t>
              </a:r>
            </a:p>
            <a:p>
              <a:pPr marL="531813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DM Sans" pitchFamily="2" charset="0"/>
                </a:rPr>
                <a:t>Deadline control</a:t>
              </a:r>
              <a:endParaRPr lang="en-I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DM Sans" pitchFamily="2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9AA81671-A02B-E371-9F81-F01870D91A94}"/>
              </a:ext>
            </a:extLst>
          </p:cNvPr>
          <p:cNvSpPr txBox="1"/>
          <p:nvPr/>
        </p:nvSpPr>
        <p:spPr>
          <a:xfrm>
            <a:off x="4210559" y="201029"/>
            <a:ext cx="45051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MANAGER &amp; EMPLOYEE APPS</a:t>
            </a:r>
            <a:endParaRPr lang="en-IN" u="sng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94F811-EC3D-AA78-9D19-3FC1556028E9}"/>
              </a:ext>
            </a:extLst>
          </p:cNvPr>
          <p:cNvSpPr txBox="1"/>
          <p:nvPr/>
        </p:nvSpPr>
        <p:spPr>
          <a:xfrm>
            <a:off x="2139512" y="1359941"/>
            <a:ext cx="381901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1</a:t>
            </a:r>
            <a:endParaRPr lang="en-IN" sz="2800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EB6E1F-8AA2-BB71-AC20-18EC3C4CCFC5}"/>
              </a:ext>
            </a:extLst>
          </p:cNvPr>
          <p:cNvSpPr txBox="1"/>
          <p:nvPr/>
        </p:nvSpPr>
        <p:spPr>
          <a:xfrm>
            <a:off x="6713432" y="1359940"/>
            <a:ext cx="381901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2</a:t>
            </a:r>
            <a:endParaRPr lang="en-IN" sz="2800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0861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4817EA32-F7D9-58BA-E653-FB60D025EB6E}"/>
              </a:ext>
            </a:extLst>
          </p:cNvPr>
          <p:cNvGrpSpPr/>
          <p:nvPr/>
        </p:nvGrpSpPr>
        <p:grpSpPr>
          <a:xfrm rot="7085752">
            <a:off x="764539" y="811294"/>
            <a:ext cx="2102273" cy="2250097"/>
            <a:chOff x="259462" y="1624313"/>
            <a:chExt cx="3553430" cy="3970118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5B60F87-53EB-0EA2-59AC-F025F23DAB87}"/>
                </a:ext>
              </a:extLst>
            </p:cNvPr>
            <p:cNvSpPr/>
            <p:nvPr/>
          </p:nvSpPr>
          <p:spPr>
            <a:xfrm>
              <a:off x="2036177" y="1624313"/>
              <a:ext cx="1776715" cy="3970118"/>
            </a:xfrm>
            <a:custGeom>
              <a:avLst/>
              <a:gdLst>
                <a:gd name="connsiteX0" fmla="*/ 0 w 1776715"/>
                <a:gd name="connsiteY0" fmla="*/ 0 h 3970118"/>
                <a:gd name="connsiteX1" fmla="*/ 1776715 w 1776715"/>
                <a:gd name="connsiteY1" fmla="*/ 3970116 h 3970118"/>
                <a:gd name="connsiteX2" fmla="*/ 1776715 w 1776715"/>
                <a:gd name="connsiteY2" fmla="*/ 3970118 h 3970118"/>
                <a:gd name="connsiteX3" fmla="*/ 0 w 1776715"/>
                <a:gd name="connsiteY3" fmla="*/ 2864539 h 3970118"/>
                <a:gd name="connsiteX4" fmla="*/ 0 w 1776715"/>
                <a:gd name="connsiteY4" fmla="*/ 0 h 3970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6715" h="3970118">
                  <a:moveTo>
                    <a:pt x="0" y="0"/>
                  </a:moveTo>
                  <a:lnTo>
                    <a:pt x="1776715" y="3970116"/>
                  </a:lnTo>
                  <a:lnTo>
                    <a:pt x="1776715" y="3970118"/>
                  </a:lnTo>
                  <a:lnTo>
                    <a:pt x="0" y="28645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6339458-119D-A07B-5B33-6D9741DC414F}"/>
                </a:ext>
              </a:extLst>
            </p:cNvPr>
            <p:cNvSpPr/>
            <p:nvPr/>
          </p:nvSpPr>
          <p:spPr>
            <a:xfrm>
              <a:off x="259462" y="1624313"/>
              <a:ext cx="1776715" cy="3970118"/>
            </a:xfrm>
            <a:custGeom>
              <a:avLst/>
              <a:gdLst>
                <a:gd name="connsiteX0" fmla="*/ 1776715 w 1776715"/>
                <a:gd name="connsiteY0" fmla="*/ 0 h 3970118"/>
                <a:gd name="connsiteX1" fmla="*/ 1776715 w 1776715"/>
                <a:gd name="connsiteY1" fmla="*/ 2864539 h 3970118"/>
                <a:gd name="connsiteX2" fmla="*/ 0 w 1776715"/>
                <a:gd name="connsiteY2" fmla="*/ 3970118 h 3970118"/>
                <a:gd name="connsiteX3" fmla="*/ 0 w 1776715"/>
                <a:gd name="connsiteY3" fmla="*/ 3970116 h 3970118"/>
                <a:gd name="connsiteX4" fmla="*/ 1776715 w 1776715"/>
                <a:gd name="connsiteY4" fmla="*/ 0 h 3970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6715" h="3970118">
                  <a:moveTo>
                    <a:pt x="1776715" y="0"/>
                  </a:moveTo>
                  <a:lnTo>
                    <a:pt x="1776715" y="2864539"/>
                  </a:lnTo>
                  <a:lnTo>
                    <a:pt x="0" y="3970118"/>
                  </a:lnTo>
                  <a:lnTo>
                    <a:pt x="0" y="3970116"/>
                  </a:lnTo>
                  <a:lnTo>
                    <a:pt x="1776715" y="0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083CAF7-CE8A-3D1B-5B0E-B9822167F91F}"/>
              </a:ext>
            </a:extLst>
          </p:cNvPr>
          <p:cNvGrpSpPr/>
          <p:nvPr/>
        </p:nvGrpSpPr>
        <p:grpSpPr>
          <a:xfrm rot="6091603">
            <a:off x="3775722" y="1647481"/>
            <a:ext cx="2102273" cy="2250097"/>
            <a:chOff x="259462" y="1624313"/>
            <a:chExt cx="3553429" cy="3970118"/>
          </a:xfrm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7EBC6775-974D-EE5A-9C0C-0806C262815D}"/>
                </a:ext>
              </a:extLst>
            </p:cNvPr>
            <p:cNvSpPr/>
            <p:nvPr/>
          </p:nvSpPr>
          <p:spPr>
            <a:xfrm>
              <a:off x="2036175" y="1624313"/>
              <a:ext cx="1776716" cy="3970117"/>
            </a:xfrm>
            <a:custGeom>
              <a:avLst/>
              <a:gdLst>
                <a:gd name="connsiteX0" fmla="*/ 0 w 1776715"/>
                <a:gd name="connsiteY0" fmla="*/ 0 h 3970118"/>
                <a:gd name="connsiteX1" fmla="*/ 1776715 w 1776715"/>
                <a:gd name="connsiteY1" fmla="*/ 3970116 h 3970118"/>
                <a:gd name="connsiteX2" fmla="*/ 1776715 w 1776715"/>
                <a:gd name="connsiteY2" fmla="*/ 3970118 h 3970118"/>
                <a:gd name="connsiteX3" fmla="*/ 0 w 1776715"/>
                <a:gd name="connsiteY3" fmla="*/ 2864539 h 3970118"/>
                <a:gd name="connsiteX4" fmla="*/ 0 w 1776715"/>
                <a:gd name="connsiteY4" fmla="*/ 0 h 3970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6715" h="3970118">
                  <a:moveTo>
                    <a:pt x="0" y="0"/>
                  </a:moveTo>
                  <a:lnTo>
                    <a:pt x="1776715" y="3970116"/>
                  </a:lnTo>
                  <a:lnTo>
                    <a:pt x="1776715" y="3970118"/>
                  </a:lnTo>
                  <a:lnTo>
                    <a:pt x="0" y="28645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84FA0D9-918D-B853-1B42-E61288FE7DC7}"/>
                </a:ext>
              </a:extLst>
            </p:cNvPr>
            <p:cNvSpPr/>
            <p:nvPr/>
          </p:nvSpPr>
          <p:spPr>
            <a:xfrm>
              <a:off x="259462" y="1624313"/>
              <a:ext cx="1776715" cy="3970118"/>
            </a:xfrm>
            <a:custGeom>
              <a:avLst/>
              <a:gdLst>
                <a:gd name="connsiteX0" fmla="*/ 1776715 w 1776715"/>
                <a:gd name="connsiteY0" fmla="*/ 0 h 3970118"/>
                <a:gd name="connsiteX1" fmla="*/ 1776715 w 1776715"/>
                <a:gd name="connsiteY1" fmla="*/ 2864539 h 3970118"/>
                <a:gd name="connsiteX2" fmla="*/ 0 w 1776715"/>
                <a:gd name="connsiteY2" fmla="*/ 3970118 h 3970118"/>
                <a:gd name="connsiteX3" fmla="*/ 0 w 1776715"/>
                <a:gd name="connsiteY3" fmla="*/ 3970116 h 3970118"/>
                <a:gd name="connsiteX4" fmla="*/ 1776715 w 1776715"/>
                <a:gd name="connsiteY4" fmla="*/ 0 h 3970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6715" h="3970118">
                  <a:moveTo>
                    <a:pt x="1776715" y="0"/>
                  </a:moveTo>
                  <a:lnTo>
                    <a:pt x="1776715" y="2864539"/>
                  </a:lnTo>
                  <a:lnTo>
                    <a:pt x="0" y="3970118"/>
                  </a:lnTo>
                  <a:lnTo>
                    <a:pt x="0" y="3970116"/>
                  </a:lnTo>
                  <a:lnTo>
                    <a:pt x="1776715" y="0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852ED60-D350-3D2C-867F-5921C2BC71CA}"/>
              </a:ext>
            </a:extLst>
          </p:cNvPr>
          <p:cNvGrpSpPr/>
          <p:nvPr/>
        </p:nvGrpSpPr>
        <p:grpSpPr>
          <a:xfrm rot="4833777">
            <a:off x="6865326" y="1612038"/>
            <a:ext cx="2102273" cy="2250097"/>
            <a:chOff x="259462" y="1624313"/>
            <a:chExt cx="3553430" cy="3970118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5CC2EEF-94F4-5730-1ED0-60C68827BA95}"/>
                </a:ext>
              </a:extLst>
            </p:cNvPr>
            <p:cNvSpPr/>
            <p:nvPr/>
          </p:nvSpPr>
          <p:spPr>
            <a:xfrm>
              <a:off x="2036177" y="1624313"/>
              <a:ext cx="1776715" cy="3970118"/>
            </a:xfrm>
            <a:custGeom>
              <a:avLst/>
              <a:gdLst>
                <a:gd name="connsiteX0" fmla="*/ 0 w 1776715"/>
                <a:gd name="connsiteY0" fmla="*/ 0 h 3970118"/>
                <a:gd name="connsiteX1" fmla="*/ 1776715 w 1776715"/>
                <a:gd name="connsiteY1" fmla="*/ 3970116 h 3970118"/>
                <a:gd name="connsiteX2" fmla="*/ 1776715 w 1776715"/>
                <a:gd name="connsiteY2" fmla="*/ 3970118 h 3970118"/>
                <a:gd name="connsiteX3" fmla="*/ 0 w 1776715"/>
                <a:gd name="connsiteY3" fmla="*/ 2864539 h 3970118"/>
                <a:gd name="connsiteX4" fmla="*/ 0 w 1776715"/>
                <a:gd name="connsiteY4" fmla="*/ 0 h 3970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6715" h="3970118">
                  <a:moveTo>
                    <a:pt x="0" y="0"/>
                  </a:moveTo>
                  <a:lnTo>
                    <a:pt x="1776715" y="3970116"/>
                  </a:lnTo>
                  <a:lnTo>
                    <a:pt x="1776715" y="3970118"/>
                  </a:lnTo>
                  <a:lnTo>
                    <a:pt x="0" y="28645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7257B54-97CD-1402-2D9D-CC6130929AFA}"/>
                </a:ext>
              </a:extLst>
            </p:cNvPr>
            <p:cNvSpPr/>
            <p:nvPr/>
          </p:nvSpPr>
          <p:spPr>
            <a:xfrm>
              <a:off x="259462" y="1624313"/>
              <a:ext cx="1776715" cy="3970118"/>
            </a:xfrm>
            <a:custGeom>
              <a:avLst/>
              <a:gdLst>
                <a:gd name="connsiteX0" fmla="*/ 1776715 w 1776715"/>
                <a:gd name="connsiteY0" fmla="*/ 0 h 3970118"/>
                <a:gd name="connsiteX1" fmla="*/ 1776715 w 1776715"/>
                <a:gd name="connsiteY1" fmla="*/ 2864539 h 3970118"/>
                <a:gd name="connsiteX2" fmla="*/ 0 w 1776715"/>
                <a:gd name="connsiteY2" fmla="*/ 3970118 h 3970118"/>
                <a:gd name="connsiteX3" fmla="*/ 0 w 1776715"/>
                <a:gd name="connsiteY3" fmla="*/ 3970116 h 3970118"/>
                <a:gd name="connsiteX4" fmla="*/ 1776715 w 1776715"/>
                <a:gd name="connsiteY4" fmla="*/ 0 h 3970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6715" h="3970118">
                  <a:moveTo>
                    <a:pt x="1776715" y="0"/>
                  </a:moveTo>
                  <a:lnTo>
                    <a:pt x="1776715" y="2864539"/>
                  </a:lnTo>
                  <a:lnTo>
                    <a:pt x="0" y="3970118"/>
                  </a:lnTo>
                  <a:lnTo>
                    <a:pt x="0" y="3970116"/>
                  </a:lnTo>
                  <a:lnTo>
                    <a:pt x="1776715" y="0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91A8ECC-7699-A4CD-5F6F-80AD3AAB8D5F}"/>
              </a:ext>
            </a:extLst>
          </p:cNvPr>
          <p:cNvGrpSpPr/>
          <p:nvPr/>
        </p:nvGrpSpPr>
        <p:grpSpPr>
          <a:xfrm rot="3220589">
            <a:off x="9611794" y="474290"/>
            <a:ext cx="2102273" cy="2250097"/>
            <a:chOff x="259462" y="1624313"/>
            <a:chExt cx="3553430" cy="3970118"/>
          </a:xfrm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0250B82-0C8D-BAC4-2605-0C6518EE205B}"/>
                </a:ext>
              </a:extLst>
            </p:cNvPr>
            <p:cNvSpPr/>
            <p:nvPr/>
          </p:nvSpPr>
          <p:spPr>
            <a:xfrm>
              <a:off x="2036177" y="1624313"/>
              <a:ext cx="1776715" cy="3970118"/>
            </a:xfrm>
            <a:custGeom>
              <a:avLst/>
              <a:gdLst>
                <a:gd name="connsiteX0" fmla="*/ 0 w 1776715"/>
                <a:gd name="connsiteY0" fmla="*/ 0 h 3970118"/>
                <a:gd name="connsiteX1" fmla="*/ 1776715 w 1776715"/>
                <a:gd name="connsiteY1" fmla="*/ 3970116 h 3970118"/>
                <a:gd name="connsiteX2" fmla="*/ 1776715 w 1776715"/>
                <a:gd name="connsiteY2" fmla="*/ 3970118 h 3970118"/>
                <a:gd name="connsiteX3" fmla="*/ 0 w 1776715"/>
                <a:gd name="connsiteY3" fmla="*/ 2864539 h 3970118"/>
                <a:gd name="connsiteX4" fmla="*/ 0 w 1776715"/>
                <a:gd name="connsiteY4" fmla="*/ 0 h 3970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6715" h="3970118">
                  <a:moveTo>
                    <a:pt x="0" y="0"/>
                  </a:moveTo>
                  <a:lnTo>
                    <a:pt x="1776715" y="3970116"/>
                  </a:lnTo>
                  <a:lnTo>
                    <a:pt x="1776715" y="3970118"/>
                  </a:lnTo>
                  <a:lnTo>
                    <a:pt x="0" y="28645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9875A52-2B20-C5A4-CF96-10486ACE01F0}"/>
                </a:ext>
              </a:extLst>
            </p:cNvPr>
            <p:cNvSpPr/>
            <p:nvPr/>
          </p:nvSpPr>
          <p:spPr>
            <a:xfrm>
              <a:off x="259462" y="1624313"/>
              <a:ext cx="1776715" cy="3970118"/>
            </a:xfrm>
            <a:custGeom>
              <a:avLst/>
              <a:gdLst>
                <a:gd name="connsiteX0" fmla="*/ 1776715 w 1776715"/>
                <a:gd name="connsiteY0" fmla="*/ 0 h 3970118"/>
                <a:gd name="connsiteX1" fmla="*/ 1776715 w 1776715"/>
                <a:gd name="connsiteY1" fmla="*/ 2864539 h 3970118"/>
                <a:gd name="connsiteX2" fmla="*/ 0 w 1776715"/>
                <a:gd name="connsiteY2" fmla="*/ 3970118 h 3970118"/>
                <a:gd name="connsiteX3" fmla="*/ 0 w 1776715"/>
                <a:gd name="connsiteY3" fmla="*/ 3970116 h 3970118"/>
                <a:gd name="connsiteX4" fmla="*/ 1776715 w 1776715"/>
                <a:gd name="connsiteY4" fmla="*/ 0 h 3970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6715" h="3970118">
                  <a:moveTo>
                    <a:pt x="1776715" y="0"/>
                  </a:moveTo>
                  <a:lnTo>
                    <a:pt x="1776715" y="2864539"/>
                  </a:lnTo>
                  <a:lnTo>
                    <a:pt x="0" y="3970118"/>
                  </a:lnTo>
                  <a:lnTo>
                    <a:pt x="0" y="3970116"/>
                  </a:lnTo>
                  <a:lnTo>
                    <a:pt x="1776715" y="0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</p:grpSp>
      <p:sp>
        <p:nvSpPr>
          <p:cNvPr id="39" name="Arc 38">
            <a:extLst>
              <a:ext uri="{FF2B5EF4-FFF2-40B4-BE49-F238E27FC236}">
                <a16:creationId xmlns:a16="http://schemas.microsoft.com/office/drawing/2014/main" id="{BDDD047F-F159-D3FC-B4B8-19931C883A7D}"/>
              </a:ext>
            </a:extLst>
          </p:cNvPr>
          <p:cNvSpPr/>
          <p:nvPr/>
        </p:nvSpPr>
        <p:spPr>
          <a:xfrm rot="10972494" flipH="1">
            <a:off x="1117269" y="82134"/>
            <a:ext cx="8247377" cy="1273401"/>
          </a:xfrm>
          <a:prstGeom prst="arc">
            <a:avLst>
              <a:gd name="adj1" fmla="val 11373993"/>
              <a:gd name="adj2" fmla="val 0"/>
            </a:avLst>
          </a:prstGeom>
          <a:ln w="38100">
            <a:solidFill>
              <a:schemeClr val="accent6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7088ADC-45A6-D450-9DAF-3149F94D9064}"/>
              </a:ext>
            </a:extLst>
          </p:cNvPr>
          <p:cNvSpPr txBox="1"/>
          <p:nvPr/>
        </p:nvSpPr>
        <p:spPr>
          <a:xfrm>
            <a:off x="3724500" y="549903"/>
            <a:ext cx="45110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spc="600" dirty="0">
                <a:latin typeface="Algerian" panose="04020705040A02060702" pitchFamily="82" charset="0"/>
              </a:rPr>
              <a:t>WHY THIS WORK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FCE44EC-63A9-EAED-4F3E-38AD90A94E94}"/>
              </a:ext>
            </a:extLst>
          </p:cNvPr>
          <p:cNvSpPr txBox="1"/>
          <p:nvPr/>
        </p:nvSpPr>
        <p:spPr>
          <a:xfrm>
            <a:off x="488817" y="3057017"/>
            <a:ext cx="2319333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DM Sans" pitchFamily="2" charset="0"/>
              </a:rPr>
              <a:t>     Super Simple </a:t>
            </a:r>
          </a:p>
          <a:p>
            <a:r>
              <a:rPr lang="en-US" dirty="0">
                <a:latin typeface="DM Sans" pitchFamily="2" charset="0"/>
              </a:rPr>
              <a:t>	</a:t>
            </a:r>
            <a:r>
              <a:rPr lang="en-US" sz="2000" b="1" dirty="0">
                <a:latin typeface="DM Sans" pitchFamily="2" charset="0"/>
              </a:rPr>
              <a:t>+</a:t>
            </a:r>
            <a:endParaRPr lang="en-US" b="1" dirty="0">
              <a:latin typeface="DM Sans" pitchFamily="2" charset="0"/>
            </a:endParaRPr>
          </a:p>
          <a:p>
            <a:r>
              <a:rPr lang="en-US" sz="2000" b="1" dirty="0">
                <a:latin typeface="DM Sans" pitchFamily="2" charset="0"/>
              </a:rPr>
              <a:t>     Highly Visual </a:t>
            </a:r>
          </a:p>
          <a:p>
            <a:pPr algn="ctr"/>
            <a:endParaRPr lang="en-US" dirty="0">
              <a:latin typeface="DM Sans" pitchFamily="2" charset="0"/>
            </a:endParaRPr>
          </a:p>
          <a:p>
            <a:pPr algn="ctr"/>
            <a:r>
              <a:rPr lang="en-US" dirty="0">
                <a:latin typeface="DM Sans" pitchFamily="2" charset="0"/>
              </a:rPr>
              <a:t>No Overload The light-indicator system reduces confusion instantly.</a:t>
            </a:r>
            <a:endParaRPr lang="en-IN" dirty="0">
              <a:latin typeface="DM Sans" pitchFamily="2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44ABB2A-0C69-74F9-8A91-9DEFB8402312}"/>
              </a:ext>
            </a:extLst>
          </p:cNvPr>
          <p:cNvSpPr txBox="1"/>
          <p:nvPr/>
        </p:nvSpPr>
        <p:spPr>
          <a:xfrm>
            <a:off x="3308555" y="3860658"/>
            <a:ext cx="239199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DM Sans" pitchFamily="2" charset="0"/>
              </a:rPr>
              <a:t>        Improves</a:t>
            </a:r>
          </a:p>
          <a:p>
            <a:r>
              <a:rPr lang="en-US" sz="2000" b="1" dirty="0">
                <a:latin typeface="DM Sans" pitchFamily="2" charset="0"/>
              </a:rPr>
              <a:t>      Productivity</a:t>
            </a:r>
          </a:p>
          <a:p>
            <a:pPr algn="ctr"/>
            <a:endParaRPr lang="en-US" dirty="0">
              <a:latin typeface="DM Sans" pitchFamily="2" charset="0"/>
            </a:endParaRPr>
          </a:p>
          <a:p>
            <a:pPr algn="ctr"/>
            <a:r>
              <a:rPr lang="en-US" dirty="0">
                <a:latin typeface="DM Sans" pitchFamily="2" charset="0"/>
              </a:rPr>
              <a:t>Deadline timers + reminders increase task completion.</a:t>
            </a:r>
            <a:endParaRPr lang="en-IN" dirty="0">
              <a:latin typeface="DM Sans" pitchFamily="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750BDB3-2DE7-C485-FEDB-EBAF8A595F20}"/>
              </a:ext>
            </a:extLst>
          </p:cNvPr>
          <p:cNvSpPr txBox="1"/>
          <p:nvPr/>
        </p:nvSpPr>
        <p:spPr>
          <a:xfrm>
            <a:off x="6806639" y="4040782"/>
            <a:ext cx="2507027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DM Sans" pitchFamily="2" charset="0"/>
                <a:ea typeface="Malgun Gothic" panose="020B0503020000020004" pitchFamily="34" charset="-127"/>
              </a:rPr>
              <a:t>      Improves     Communication</a:t>
            </a:r>
          </a:p>
          <a:p>
            <a:endParaRPr lang="en-US" dirty="0">
              <a:latin typeface="DM Sans" pitchFamily="2" charset="0"/>
              <a:ea typeface="Malgun Gothic" panose="020B0503020000020004" pitchFamily="34" charset="-127"/>
            </a:endParaRPr>
          </a:p>
          <a:p>
            <a:pPr algn="ctr"/>
            <a:r>
              <a:rPr lang="en-US" dirty="0">
                <a:latin typeface="DM Sans" pitchFamily="2" charset="0"/>
                <a:ea typeface="Malgun Gothic" panose="020B0503020000020004" pitchFamily="34" charset="-127"/>
              </a:rPr>
              <a:t>Built-in chat solves doubts quickly.</a:t>
            </a:r>
            <a:endParaRPr lang="en-IN" dirty="0">
              <a:latin typeface="DM Sans" pitchFamily="2" charset="0"/>
              <a:ea typeface="Malgun Gothic" panose="020B0503020000020004" pitchFamily="34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0651317-BA70-3307-46BE-75ED2C85AA16}"/>
              </a:ext>
            </a:extLst>
          </p:cNvPr>
          <p:cNvSpPr txBox="1"/>
          <p:nvPr/>
        </p:nvSpPr>
        <p:spPr>
          <a:xfrm>
            <a:off x="9705662" y="3287497"/>
            <a:ext cx="2319333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DM Sans" pitchFamily="2" charset="0"/>
              </a:rPr>
              <a:t>    Data-Driven   </a:t>
            </a:r>
          </a:p>
          <a:p>
            <a:r>
              <a:rPr lang="en-US" sz="2000" b="1" dirty="0">
                <a:latin typeface="DM Sans" pitchFamily="2" charset="0"/>
              </a:rPr>
              <a:t>    Performance</a:t>
            </a:r>
          </a:p>
          <a:p>
            <a:pPr algn="ctr"/>
            <a:endParaRPr lang="en-US" dirty="0">
              <a:latin typeface="DM Sans" pitchFamily="2" charset="0"/>
            </a:endParaRPr>
          </a:p>
          <a:p>
            <a:pPr algn="ctr"/>
            <a:r>
              <a:rPr lang="en-US" dirty="0">
                <a:latin typeface="DM Sans" pitchFamily="2" charset="0"/>
              </a:rPr>
              <a:t>Employee score helps managers make better decisions.</a:t>
            </a:r>
            <a:endParaRPr lang="en-IN" dirty="0">
              <a:latin typeface="DM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38009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81434DC-328B-F6B2-9A57-644932696612}"/>
              </a:ext>
            </a:extLst>
          </p:cNvPr>
          <p:cNvSpPr txBox="1"/>
          <p:nvPr/>
        </p:nvSpPr>
        <p:spPr>
          <a:xfrm>
            <a:off x="2022087" y="2162646"/>
            <a:ext cx="7916332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atin typeface="Arial Black" panose="020B0A04020102020204" pitchFamily="34" charset="0"/>
              </a:rPr>
              <a:t>CONCLUSION</a:t>
            </a:r>
          </a:p>
          <a:p>
            <a:pPr algn="ctr"/>
            <a:endParaRPr lang="en-US" sz="1400" dirty="0">
              <a:latin typeface="Arial Black" panose="020B0A04020102020204" pitchFamily="34" charset="0"/>
            </a:endParaRPr>
          </a:p>
          <a:p>
            <a:pPr algn="ctr"/>
            <a:r>
              <a:rPr lang="en-US" sz="1400" dirty="0">
                <a:latin typeface="Arial Black" panose="020B0A04020102020204" pitchFamily="34" charset="0"/>
              </a:rPr>
              <a:t>Smart Slot gives remote teams a :  </a:t>
            </a:r>
          </a:p>
          <a:p>
            <a:pPr marL="2686050" indent="-457200" algn="ctr">
              <a:buFont typeface="Wingdings" panose="05000000000000000000" pitchFamily="2" charset="2"/>
              <a:buChar char="v"/>
            </a:pPr>
            <a:endParaRPr lang="en-US" sz="1400" dirty="0">
              <a:latin typeface="Arial Black" panose="020B0A04020102020204" pitchFamily="34" charset="0"/>
            </a:endParaRPr>
          </a:p>
          <a:p>
            <a:pPr marL="2686050" indent="-457200">
              <a:buFont typeface="Wingdings" panose="05000000000000000000" pitchFamily="2" charset="2"/>
              <a:buChar char="v"/>
            </a:pPr>
            <a:r>
              <a:rPr lang="en-US" sz="1400" dirty="0">
                <a:latin typeface="Arial Black" panose="020B0A04020102020204" pitchFamily="34" charset="0"/>
              </a:rPr>
              <a:t>Clear</a:t>
            </a:r>
          </a:p>
          <a:p>
            <a:pPr marL="2686050" indent="-457200">
              <a:buFont typeface="Wingdings" panose="05000000000000000000" pitchFamily="2" charset="2"/>
              <a:buChar char="v"/>
            </a:pPr>
            <a:r>
              <a:rPr lang="en-US" sz="1400" dirty="0">
                <a:latin typeface="Arial Black" panose="020B0A04020102020204" pitchFamily="34" charset="0"/>
              </a:rPr>
              <a:t>Fast</a:t>
            </a:r>
          </a:p>
          <a:p>
            <a:pPr marL="2686050" indent="-457200">
              <a:buFont typeface="Wingdings" panose="05000000000000000000" pitchFamily="2" charset="2"/>
              <a:buChar char="v"/>
            </a:pPr>
            <a:r>
              <a:rPr lang="en-US" sz="1400" dirty="0">
                <a:latin typeface="Arial Black" panose="020B0A04020102020204" pitchFamily="34" charset="0"/>
              </a:rPr>
              <a:t>Organized</a:t>
            </a:r>
          </a:p>
          <a:p>
            <a:pPr marL="2686050" indent="-457200">
              <a:buFont typeface="Wingdings" panose="05000000000000000000" pitchFamily="2" charset="2"/>
              <a:buChar char="v"/>
            </a:pPr>
            <a:r>
              <a:rPr lang="en-US" sz="1400" dirty="0">
                <a:latin typeface="Arial Black" panose="020B0A04020102020204" pitchFamily="34" charset="0"/>
              </a:rPr>
              <a:t>Motivating</a:t>
            </a:r>
          </a:p>
          <a:p>
            <a:pPr marL="2228850"/>
            <a:r>
              <a:rPr lang="en-US" sz="1400" dirty="0">
                <a:latin typeface="Arial Black" panose="020B0A04020102020204" pitchFamily="34" charset="0"/>
              </a:rPr>
              <a:t> </a:t>
            </a:r>
          </a:p>
          <a:p>
            <a:pPr marL="2228850"/>
            <a:r>
              <a:rPr lang="en-US" sz="1400" dirty="0">
                <a:latin typeface="Arial Black" panose="020B0A04020102020204" pitchFamily="34" charset="0"/>
              </a:rPr>
              <a:t>Way to Work</a:t>
            </a:r>
            <a:endParaRPr lang="en-IN" sz="1400" dirty="0">
              <a:latin typeface="Arial Black" panose="020B0A04020102020204" pitchFamily="34" charset="0"/>
            </a:endParaRPr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C7938457-7100-3692-E9CC-6EE854D29C9D}"/>
              </a:ext>
            </a:extLst>
          </p:cNvPr>
          <p:cNvSpPr/>
          <p:nvPr/>
        </p:nvSpPr>
        <p:spPr>
          <a:xfrm>
            <a:off x="0" y="3889093"/>
            <a:ext cx="12192000" cy="2968905"/>
          </a:xfrm>
          <a:custGeom>
            <a:avLst/>
            <a:gdLst>
              <a:gd name="connsiteX0" fmla="*/ 0 w 12192000"/>
              <a:gd name="connsiteY0" fmla="*/ 4323143 h 4323143"/>
              <a:gd name="connsiteX1" fmla="*/ 0 w 12192000"/>
              <a:gd name="connsiteY1" fmla="*/ 0 h 4323143"/>
              <a:gd name="connsiteX2" fmla="*/ 12192000 w 12192000"/>
              <a:gd name="connsiteY2" fmla="*/ 4323143 h 4323143"/>
              <a:gd name="connsiteX3" fmla="*/ 0 w 12192000"/>
              <a:gd name="connsiteY3" fmla="*/ 4323143 h 4323143"/>
              <a:gd name="connsiteX0" fmla="*/ 0 w 12192000"/>
              <a:gd name="connsiteY0" fmla="*/ 4323143 h 4323143"/>
              <a:gd name="connsiteX1" fmla="*/ 0 w 12192000"/>
              <a:gd name="connsiteY1" fmla="*/ 0 h 4323143"/>
              <a:gd name="connsiteX2" fmla="*/ 4919241 w 12192000"/>
              <a:gd name="connsiteY2" fmla="*/ 1006997 h 4323143"/>
              <a:gd name="connsiteX3" fmla="*/ 12192000 w 12192000"/>
              <a:gd name="connsiteY3" fmla="*/ 4323143 h 4323143"/>
              <a:gd name="connsiteX4" fmla="*/ 0 w 12192000"/>
              <a:gd name="connsiteY4" fmla="*/ 4323143 h 4323143"/>
              <a:gd name="connsiteX0" fmla="*/ 0 w 12192000"/>
              <a:gd name="connsiteY0" fmla="*/ 4323143 h 4323143"/>
              <a:gd name="connsiteX1" fmla="*/ 0 w 12192000"/>
              <a:gd name="connsiteY1" fmla="*/ 0 h 4323143"/>
              <a:gd name="connsiteX2" fmla="*/ 4919241 w 12192000"/>
              <a:gd name="connsiteY2" fmla="*/ 1006997 h 4323143"/>
              <a:gd name="connsiteX3" fmla="*/ 12192000 w 12192000"/>
              <a:gd name="connsiteY3" fmla="*/ 4323143 h 4323143"/>
              <a:gd name="connsiteX4" fmla="*/ 0 w 12192000"/>
              <a:gd name="connsiteY4" fmla="*/ 4323143 h 4323143"/>
              <a:gd name="connsiteX0" fmla="*/ 0 w 12192000"/>
              <a:gd name="connsiteY0" fmla="*/ 4323143 h 4323143"/>
              <a:gd name="connsiteX1" fmla="*/ 0 w 12192000"/>
              <a:gd name="connsiteY1" fmla="*/ 0 h 4323143"/>
              <a:gd name="connsiteX2" fmla="*/ 5868365 w 12192000"/>
              <a:gd name="connsiteY2" fmla="*/ 1030146 h 4323143"/>
              <a:gd name="connsiteX3" fmla="*/ 12192000 w 12192000"/>
              <a:gd name="connsiteY3" fmla="*/ 4323143 h 4323143"/>
              <a:gd name="connsiteX4" fmla="*/ 0 w 12192000"/>
              <a:gd name="connsiteY4" fmla="*/ 4323143 h 4323143"/>
              <a:gd name="connsiteX0" fmla="*/ 0 w 12192000"/>
              <a:gd name="connsiteY0" fmla="*/ 4323143 h 4323143"/>
              <a:gd name="connsiteX1" fmla="*/ 0 w 12192000"/>
              <a:gd name="connsiteY1" fmla="*/ 0 h 4323143"/>
              <a:gd name="connsiteX2" fmla="*/ 5868365 w 12192000"/>
              <a:gd name="connsiteY2" fmla="*/ 1030146 h 4323143"/>
              <a:gd name="connsiteX3" fmla="*/ 12192000 w 12192000"/>
              <a:gd name="connsiteY3" fmla="*/ 4323143 h 4323143"/>
              <a:gd name="connsiteX4" fmla="*/ 0 w 12192000"/>
              <a:gd name="connsiteY4" fmla="*/ 4323143 h 4323143"/>
              <a:gd name="connsiteX0" fmla="*/ 0 w 12192000"/>
              <a:gd name="connsiteY0" fmla="*/ 4323143 h 4323143"/>
              <a:gd name="connsiteX1" fmla="*/ 0 w 12192000"/>
              <a:gd name="connsiteY1" fmla="*/ 0 h 4323143"/>
              <a:gd name="connsiteX2" fmla="*/ 6088284 w 12192000"/>
              <a:gd name="connsiteY2" fmla="*/ 937548 h 4323143"/>
              <a:gd name="connsiteX3" fmla="*/ 12192000 w 12192000"/>
              <a:gd name="connsiteY3" fmla="*/ 4323143 h 4323143"/>
              <a:gd name="connsiteX4" fmla="*/ 0 w 12192000"/>
              <a:gd name="connsiteY4" fmla="*/ 4323143 h 4323143"/>
              <a:gd name="connsiteX0" fmla="*/ 0 w 12192000"/>
              <a:gd name="connsiteY0" fmla="*/ 4323143 h 4323143"/>
              <a:gd name="connsiteX1" fmla="*/ 0 w 12192000"/>
              <a:gd name="connsiteY1" fmla="*/ 335666 h 4323143"/>
              <a:gd name="connsiteX2" fmla="*/ 0 w 12192000"/>
              <a:gd name="connsiteY2" fmla="*/ 0 h 4323143"/>
              <a:gd name="connsiteX3" fmla="*/ 6088284 w 12192000"/>
              <a:gd name="connsiteY3" fmla="*/ 937548 h 4323143"/>
              <a:gd name="connsiteX4" fmla="*/ 12192000 w 12192000"/>
              <a:gd name="connsiteY4" fmla="*/ 4323143 h 4323143"/>
              <a:gd name="connsiteX5" fmla="*/ 0 w 12192000"/>
              <a:gd name="connsiteY5" fmla="*/ 4323143 h 4323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4323143">
                <a:moveTo>
                  <a:pt x="0" y="4323143"/>
                </a:moveTo>
                <a:lnTo>
                  <a:pt x="0" y="335666"/>
                </a:lnTo>
                <a:lnTo>
                  <a:pt x="0" y="0"/>
                </a:lnTo>
                <a:cubicBezTo>
                  <a:pt x="991565" y="343382"/>
                  <a:pt x="4517985" y="235350"/>
                  <a:pt x="6088284" y="937548"/>
                </a:cubicBezTo>
                <a:cubicBezTo>
                  <a:pt x="8508678" y="1907892"/>
                  <a:pt x="10084122" y="3225477"/>
                  <a:pt x="12192000" y="4323143"/>
                </a:cubicBezTo>
                <a:lnTo>
                  <a:pt x="0" y="4323143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ight Triangle 4">
            <a:extLst>
              <a:ext uri="{FF2B5EF4-FFF2-40B4-BE49-F238E27FC236}">
                <a16:creationId xmlns:a16="http://schemas.microsoft.com/office/drawing/2014/main" id="{9B4E2139-BF6B-E697-5DF1-54FFFB5C002A}"/>
              </a:ext>
            </a:extLst>
          </p:cNvPr>
          <p:cNvSpPr/>
          <p:nvPr/>
        </p:nvSpPr>
        <p:spPr>
          <a:xfrm rot="10800000">
            <a:off x="-11575" y="-1"/>
            <a:ext cx="12192000" cy="3345085"/>
          </a:xfrm>
          <a:custGeom>
            <a:avLst/>
            <a:gdLst>
              <a:gd name="connsiteX0" fmla="*/ 0 w 12192000"/>
              <a:gd name="connsiteY0" fmla="*/ 4323143 h 4323143"/>
              <a:gd name="connsiteX1" fmla="*/ 0 w 12192000"/>
              <a:gd name="connsiteY1" fmla="*/ 0 h 4323143"/>
              <a:gd name="connsiteX2" fmla="*/ 12192000 w 12192000"/>
              <a:gd name="connsiteY2" fmla="*/ 4323143 h 4323143"/>
              <a:gd name="connsiteX3" fmla="*/ 0 w 12192000"/>
              <a:gd name="connsiteY3" fmla="*/ 4323143 h 4323143"/>
              <a:gd name="connsiteX0" fmla="*/ 0 w 12192000"/>
              <a:gd name="connsiteY0" fmla="*/ 4323143 h 4323143"/>
              <a:gd name="connsiteX1" fmla="*/ 0 w 12192000"/>
              <a:gd name="connsiteY1" fmla="*/ 0 h 4323143"/>
              <a:gd name="connsiteX2" fmla="*/ 4919241 w 12192000"/>
              <a:gd name="connsiteY2" fmla="*/ 1006997 h 4323143"/>
              <a:gd name="connsiteX3" fmla="*/ 12192000 w 12192000"/>
              <a:gd name="connsiteY3" fmla="*/ 4323143 h 4323143"/>
              <a:gd name="connsiteX4" fmla="*/ 0 w 12192000"/>
              <a:gd name="connsiteY4" fmla="*/ 4323143 h 4323143"/>
              <a:gd name="connsiteX0" fmla="*/ 0 w 12192000"/>
              <a:gd name="connsiteY0" fmla="*/ 4323143 h 4323143"/>
              <a:gd name="connsiteX1" fmla="*/ 0 w 12192000"/>
              <a:gd name="connsiteY1" fmla="*/ 0 h 4323143"/>
              <a:gd name="connsiteX2" fmla="*/ 4919241 w 12192000"/>
              <a:gd name="connsiteY2" fmla="*/ 1006997 h 4323143"/>
              <a:gd name="connsiteX3" fmla="*/ 12192000 w 12192000"/>
              <a:gd name="connsiteY3" fmla="*/ 4323143 h 4323143"/>
              <a:gd name="connsiteX4" fmla="*/ 0 w 12192000"/>
              <a:gd name="connsiteY4" fmla="*/ 4323143 h 4323143"/>
              <a:gd name="connsiteX0" fmla="*/ 0 w 12192000"/>
              <a:gd name="connsiteY0" fmla="*/ 4323143 h 4323143"/>
              <a:gd name="connsiteX1" fmla="*/ 0 w 12192000"/>
              <a:gd name="connsiteY1" fmla="*/ 0 h 4323143"/>
              <a:gd name="connsiteX2" fmla="*/ 5868365 w 12192000"/>
              <a:gd name="connsiteY2" fmla="*/ 1030146 h 4323143"/>
              <a:gd name="connsiteX3" fmla="*/ 12192000 w 12192000"/>
              <a:gd name="connsiteY3" fmla="*/ 4323143 h 4323143"/>
              <a:gd name="connsiteX4" fmla="*/ 0 w 12192000"/>
              <a:gd name="connsiteY4" fmla="*/ 4323143 h 4323143"/>
              <a:gd name="connsiteX0" fmla="*/ 0 w 12192000"/>
              <a:gd name="connsiteY0" fmla="*/ 4323143 h 4323143"/>
              <a:gd name="connsiteX1" fmla="*/ 0 w 12192000"/>
              <a:gd name="connsiteY1" fmla="*/ 0 h 4323143"/>
              <a:gd name="connsiteX2" fmla="*/ 5868365 w 12192000"/>
              <a:gd name="connsiteY2" fmla="*/ 1030146 h 4323143"/>
              <a:gd name="connsiteX3" fmla="*/ 12192000 w 12192000"/>
              <a:gd name="connsiteY3" fmla="*/ 4323143 h 4323143"/>
              <a:gd name="connsiteX4" fmla="*/ 0 w 12192000"/>
              <a:gd name="connsiteY4" fmla="*/ 4323143 h 4323143"/>
              <a:gd name="connsiteX0" fmla="*/ 0 w 12192000"/>
              <a:gd name="connsiteY0" fmla="*/ 4323143 h 4323143"/>
              <a:gd name="connsiteX1" fmla="*/ 0 w 12192000"/>
              <a:gd name="connsiteY1" fmla="*/ 0 h 4323143"/>
              <a:gd name="connsiteX2" fmla="*/ 6088284 w 12192000"/>
              <a:gd name="connsiteY2" fmla="*/ 937548 h 4323143"/>
              <a:gd name="connsiteX3" fmla="*/ 12192000 w 12192000"/>
              <a:gd name="connsiteY3" fmla="*/ 4323143 h 4323143"/>
              <a:gd name="connsiteX4" fmla="*/ 0 w 12192000"/>
              <a:gd name="connsiteY4" fmla="*/ 4323143 h 4323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4323143">
                <a:moveTo>
                  <a:pt x="0" y="4323143"/>
                </a:moveTo>
                <a:lnTo>
                  <a:pt x="0" y="0"/>
                </a:lnTo>
                <a:cubicBezTo>
                  <a:pt x="991565" y="343382"/>
                  <a:pt x="4517985" y="235350"/>
                  <a:pt x="6088284" y="937548"/>
                </a:cubicBezTo>
                <a:cubicBezTo>
                  <a:pt x="8508678" y="1907892"/>
                  <a:pt x="10084122" y="3225477"/>
                  <a:pt x="12192000" y="4323143"/>
                </a:cubicBezTo>
                <a:lnTo>
                  <a:pt x="0" y="4323143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4352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0 L 0.25 0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4.81481E-6 L -0.25 -4.81481E-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</TotalTime>
  <Words>385</Words>
  <Application>Microsoft Office PowerPoint</Application>
  <PresentationFormat>Widescreen</PresentationFormat>
  <Paragraphs>150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Agency FB</vt:lpstr>
      <vt:lpstr>Algerian</vt:lpstr>
      <vt:lpstr>Arial</vt:lpstr>
      <vt:lpstr>Arial Black</vt:lpstr>
      <vt:lpstr>Calibri</vt:lpstr>
      <vt:lpstr>Calibri Light</vt:lpstr>
      <vt:lpstr>DM Sans</vt:lpstr>
      <vt:lpstr>PT Serif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DEEPANSH CHAND</dc:creator>
  <cp:lastModifiedBy>DEEPANSH CHAND</cp:lastModifiedBy>
  <cp:revision>5</cp:revision>
  <dcterms:created xsi:type="dcterms:W3CDTF">2025-12-05T02:21:46Z</dcterms:created>
  <dcterms:modified xsi:type="dcterms:W3CDTF">2025-12-05T12:35:18Z</dcterms:modified>
</cp:coreProperties>
</file>